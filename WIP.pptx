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2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76" r:id="rId10"/>
    <p:sldId id="267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embeddedFontLst>
    <p:embeddedFont>
      <p:font typeface="Aharoni" panose="02010803020104030203" pitchFamily="2" charset="-79"/>
      <p:bold r:id="rId19"/>
    </p:embeddedFont>
    <p:embeddedFont>
      <p:font typeface="Play" panose="020B0604020202020204" charset="0"/>
      <p:regular r:id="rId20"/>
      <p:bold r:id="rId21"/>
    </p:embeddedFont>
    <p:embeddedFont>
      <p:font typeface="Quattrocento Sans" panose="020B0502050000020003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nOhCPu3XC/BqAvfoJe6SC3ulc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3377"/>
    <a:srgbClr val="EFEDF7"/>
    <a:srgbClr val="EF8178"/>
    <a:srgbClr val="E9E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E9E5CF-2947-4F61-8EDD-BEFD1BBE9331}">
  <a:tblStyle styleId="{E9E9E5CF-2947-4F61-8EDD-BEFD1BBE933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0435F4-3B33-48C1-B044-35B0DE946C20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E7EE"/>
          </a:solidFill>
        </a:fill>
      </a:tcStyle>
    </a:wholeTbl>
    <a:band1H>
      <a:tcTxStyle/>
      <a:tcStyle>
        <a:tcBdr/>
        <a:fill>
          <a:solidFill>
            <a:srgbClr val="DFCBD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FCBDB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0E7EE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D6F121-FD7D-400F-A9C0-410E1ED99F87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1315" autoAdjust="0"/>
  </p:normalViewPr>
  <p:slideViewPr>
    <p:cSldViewPr snapToGrid="0">
      <p:cViewPr varScale="1">
        <p:scale>
          <a:sx n="95" d="100"/>
          <a:sy n="95" d="100"/>
        </p:scale>
        <p:origin x="115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86" name="Google Shape;18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9" name="Google Shape;2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60" name="Google Shape;26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2020703F-89E0-E82A-BA11-5646155F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>
            <a:extLst>
              <a:ext uri="{FF2B5EF4-FFF2-40B4-BE49-F238E27FC236}">
                <a16:creationId xmlns:a16="http://schemas.microsoft.com/office/drawing/2014/main" id="{B1ABB618-8D64-74DB-CFFE-BB0226BAE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p13:notes">
            <a:extLst>
              <a:ext uri="{FF2B5EF4-FFF2-40B4-BE49-F238E27FC236}">
                <a16:creationId xmlns:a16="http://schemas.microsoft.com/office/drawing/2014/main" id="{66F1F117-B6C8-CFE4-AE5E-E64B560AD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69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0" name="Google Shape;29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1" name="Google Shape;29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2" name="Google Shape;3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8" name="Google Shape;3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9" name="Google Shape;38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7" name="Google Shape;4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8" name="Google Shape;46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5" name="Google Shape;5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u="none" dirty="0"/>
          </a:p>
        </p:txBody>
      </p:sp>
      <p:sp>
        <p:nvSpPr>
          <p:cNvPr id="506" name="Google Shape;5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3" name="Google Shape;5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4" name="Google Shape;53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1389128625002038#d1e4114" TargetMode="External"/><Relationship Id="rId13" Type="http://schemas.openxmlformats.org/officeDocument/2006/relationships/hyperlink" Target="https://jagt.github.io/clumsy/" TargetMode="External"/><Relationship Id="rId3" Type="http://schemas.openxmlformats.org/officeDocument/2006/relationships/hyperlink" Target="https://www.sciencedirect.com/science/article/pii/S1877050925026456" TargetMode="External"/><Relationship Id="rId7" Type="http://schemas.openxmlformats.org/officeDocument/2006/relationships/hyperlink" Target="https://arxiv.org/pdf/2601.10998" TargetMode="External"/><Relationship Id="rId12" Type="http://schemas.openxmlformats.org/officeDocument/2006/relationships/hyperlink" Target="https://www.postgresql.org/docs/" TargetMode="External"/><Relationship Id="rId17" Type="http://schemas.openxmlformats.org/officeDocument/2006/relationships/hyperlink" Target="https://www.sciencedirect.com/author/17346106000/guido-marchetto" TargetMode="External"/><Relationship Id="rId2" Type="http://schemas.openxmlformats.org/officeDocument/2006/relationships/notesSlide" Target="../notesSlides/notesSlide15.xml"/><Relationship Id="rId16" Type="http://schemas.openxmlformats.org/officeDocument/2006/relationships/hyperlink" Target="https://www.sciencedirect.com/author/9738674400/tania-cerquitell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503.17826" TargetMode="External"/><Relationship Id="rId11" Type="http://schemas.openxmlformats.org/officeDocument/2006/relationships/hyperlink" Target="https://docs.python.org/3/" TargetMode="External"/><Relationship Id="rId5" Type="http://schemas.openxmlformats.org/officeDocument/2006/relationships/hyperlink" Target="https://dergipark.org.tr/en/download/article-file/4173848" TargetMode="External"/><Relationship Id="rId15" Type="http://schemas.openxmlformats.org/officeDocument/2006/relationships/hyperlink" Target="https://www.sciencedirect.com/author/36741888200/andrea-giuseppe-bottino" TargetMode="External"/><Relationship Id="rId10" Type="http://schemas.openxmlformats.org/officeDocument/2006/relationships/hyperlink" Target="https://www.photonengine.com/fusion" TargetMode="External"/><Relationship Id="rId4" Type="http://schemas.openxmlformats.org/officeDocument/2006/relationships/hyperlink" Target="https://www.sciencedirect.com/science/article/pii/S2590118425000565?ref=pdf_download&amp;fr=RR-2&amp;rr=9c529f3ccd3821e3" TargetMode="External"/><Relationship Id="rId9" Type="http://schemas.openxmlformats.org/officeDocument/2006/relationships/hyperlink" Target="https://unity.com/" TargetMode="External"/><Relationship Id="rId14" Type="http://schemas.openxmlformats.org/officeDocument/2006/relationships/hyperlink" Target="https://wiki.linuxfoundation.org/networking/nete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1364697" y="1800015"/>
            <a:ext cx="1145310" cy="1129598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891169" y="2309396"/>
            <a:ext cx="389722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4B3B84"/>
                </a:solidFill>
                <a:latin typeface="Aharoni" panose="020F0502020204030204" pitchFamily="2" charset="-79"/>
                <a:ea typeface="ADLaM Display" panose="020F0502020204030204" pitchFamily="2" charset="0"/>
                <a:cs typeface="Aharoni" panose="020F0502020204030204" pitchFamily="2" charset="-79"/>
                <a:sym typeface="Quattrocento Sans"/>
              </a:rPr>
              <a:t>NetSwitch</a:t>
            </a:r>
            <a:endParaRPr dirty="0">
              <a:latin typeface="Aharoni" panose="020F0502020204030204" pitchFamily="2" charset="-79"/>
              <a:ea typeface="ADLaM Display" panose="020F0502020204030204" pitchFamily="2" charset="0"/>
              <a:cs typeface="Aharoni" panose="020F0502020204030204" pitchFamily="2" charset="-79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7833675" y="2032244"/>
            <a:ext cx="2686638" cy="2667785"/>
          </a:xfrm>
          <a:prstGeom prst="arc">
            <a:avLst>
              <a:gd name="adj1" fmla="val 16200000"/>
              <a:gd name="adj2" fmla="val 16200000"/>
            </a:avLst>
          </a:prstGeom>
          <a:noFill/>
          <a:ln w="69850" cap="flat" cmpd="sng">
            <a:solidFill>
              <a:srgbClr val="4B3B8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723304" y="1922647"/>
            <a:ext cx="2907379" cy="2890653"/>
          </a:xfrm>
          <a:prstGeom prst="arc">
            <a:avLst>
              <a:gd name="adj1" fmla="val 16200000"/>
              <a:gd name="adj2" fmla="val 16200000"/>
            </a:avLst>
          </a:prstGeom>
          <a:noFill/>
          <a:ln w="3810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7581580" y="1779901"/>
            <a:ext cx="3190826" cy="3172469"/>
          </a:xfrm>
          <a:prstGeom prst="arc">
            <a:avLst>
              <a:gd name="adj1" fmla="val 16200000"/>
              <a:gd name="adj2" fmla="val 2246387"/>
            </a:avLst>
          </a:prstGeom>
          <a:noFill/>
          <a:ln w="3810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rot="10394732">
            <a:off x="7581580" y="1779900"/>
            <a:ext cx="3190826" cy="3172469"/>
          </a:xfrm>
          <a:prstGeom prst="arc">
            <a:avLst>
              <a:gd name="adj1" fmla="val 16200000"/>
              <a:gd name="adj2" fmla="val 2340081"/>
            </a:avLst>
          </a:prstGeom>
          <a:noFill/>
          <a:ln w="3810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 rot="-7084053">
            <a:off x="7430164" y="1629353"/>
            <a:ext cx="3493659" cy="3473560"/>
          </a:xfrm>
          <a:prstGeom prst="arc">
            <a:avLst>
              <a:gd name="adj1" fmla="val 16200000"/>
              <a:gd name="adj2" fmla="val 1612628"/>
            </a:avLst>
          </a:prstGeom>
          <a:noFill/>
          <a:ln w="3810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 rot="2611867">
            <a:off x="7430164" y="1629352"/>
            <a:ext cx="3493659" cy="3473560"/>
          </a:xfrm>
          <a:prstGeom prst="arc">
            <a:avLst>
              <a:gd name="adj1" fmla="val 16200000"/>
              <a:gd name="adj2" fmla="val 2158790"/>
            </a:avLst>
          </a:prstGeom>
          <a:noFill/>
          <a:ln w="3810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 rot="-2875463">
            <a:off x="6912097" y="1075673"/>
            <a:ext cx="4529790" cy="4503728"/>
          </a:xfrm>
          <a:prstGeom prst="arc">
            <a:avLst>
              <a:gd name="adj1" fmla="val 16200000"/>
              <a:gd name="adj2" fmla="val 5394068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517077" y="4518692"/>
            <a:ext cx="298485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Group Members:</a:t>
            </a:r>
            <a:br>
              <a:rPr lang="en-US" sz="1400" b="1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Hamza Ahmed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B3B84"/>
                </a:solidFill>
              </a:rPr>
              <a:t>Saim Zia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B3B84"/>
                </a:solidFill>
              </a:rPr>
              <a:t>Ahmed Taimoor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1"/>
          <p:cNvSpPr txBox="1"/>
          <p:nvPr/>
        </p:nvSpPr>
        <p:spPr>
          <a:xfrm>
            <a:off x="1489222" y="5645261"/>
            <a:ext cx="296296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Supervisor: </a:t>
            </a:r>
            <a:r>
              <a:rPr lang="en-US" sz="1400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Zoya Sumbul</a:t>
            </a:r>
            <a:endParaRPr dirty="0"/>
          </a:p>
        </p:txBody>
      </p:sp>
      <p:cxnSp>
        <p:nvCxnSpPr>
          <p:cNvPr id="103" name="Google Shape;103;p1"/>
          <p:cNvCxnSpPr/>
          <p:nvPr/>
        </p:nvCxnSpPr>
        <p:spPr>
          <a:xfrm>
            <a:off x="1601918" y="5549656"/>
            <a:ext cx="2962969" cy="0"/>
          </a:xfrm>
          <a:prstGeom prst="straightConnector1">
            <a:avLst/>
          </a:prstGeom>
          <a:noFill/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" name="Google Shape;104;p1"/>
          <p:cNvSpPr txBox="1"/>
          <p:nvPr/>
        </p:nvSpPr>
        <p:spPr>
          <a:xfrm>
            <a:off x="9282896" y="6489386"/>
            <a:ext cx="279354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FAST NUCES ISB 2026</a:t>
            </a:r>
            <a:endParaRPr sz="1800" dirty="0"/>
          </a:p>
        </p:txBody>
      </p:sp>
      <p:grpSp>
        <p:nvGrpSpPr>
          <p:cNvPr id="105" name="Google Shape;105;p1"/>
          <p:cNvGrpSpPr/>
          <p:nvPr/>
        </p:nvGrpSpPr>
        <p:grpSpPr>
          <a:xfrm>
            <a:off x="2308880" y="6724260"/>
            <a:ext cx="5380718" cy="8340128"/>
            <a:chOff x="6996654" y="-1103424"/>
            <a:chExt cx="5380718" cy="8340128"/>
          </a:xfrm>
        </p:grpSpPr>
        <p:sp>
          <p:nvSpPr>
            <p:cNvPr id="106" name="Google Shape;106;p1"/>
            <p:cNvSpPr txBox="1"/>
            <p:nvPr/>
          </p:nvSpPr>
          <p:spPr>
            <a:xfrm rot="-3523113">
              <a:off x="6758918" y="6019192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7" name="Google Shape;107;p1"/>
            <p:cNvSpPr txBox="1"/>
            <p:nvPr/>
          </p:nvSpPr>
          <p:spPr>
            <a:xfrm rot="-3523113">
              <a:off x="7755818" y="4391194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 rot="-3523113">
              <a:off x="8752717" y="2767280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 rot="-3523113">
              <a:off x="9747178" y="1179948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 rot="-3523113">
              <a:off x="10695992" y="-409131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11886769" y="-8234934"/>
            <a:ext cx="5380594" cy="8367636"/>
            <a:chOff x="7427110" y="-869805"/>
            <a:chExt cx="5380594" cy="8367636"/>
          </a:xfrm>
        </p:grpSpPr>
        <p:sp>
          <p:nvSpPr>
            <p:cNvPr id="112" name="Google Shape;112;p1"/>
            <p:cNvSpPr txBox="1"/>
            <p:nvPr/>
          </p:nvSpPr>
          <p:spPr>
            <a:xfrm rot="7289796">
              <a:off x="7191939" y="6281357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 rot="7289796">
              <a:off x="8186275" y="4627529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 rot="7289796">
              <a:off x="9180611" y="2997455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 rot="7289796">
              <a:off x="10174946" y="1410452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6" name="Google Shape;116;p1"/>
            <p:cNvSpPr txBox="1"/>
            <p:nvPr/>
          </p:nvSpPr>
          <p:spPr>
            <a:xfrm rot="7289796">
              <a:off x="11123761" y="-176550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6EC3BD9-75D4-B4CB-AC7D-2BBEF892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414" y="2017536"/>
            <a:ext cx="2501156" cy="2501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F758BC-79DD-0FAD-A899-93A646B616D5}"/>
              </a:ext>
            </a:extLst>
          </p:cNvPr>
          <p:cNvSpPr txBox="1"/>
          <p:nvPr/>
        </p:nvSpPr>
        <p:spPr>
          <a:xfrm>
            <a:off x="1779069" y="3149679"/>
            <a:ext cx="51779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Dynamic Switching Between Multiplayer Architectures in Video Games with Lag Mitigation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3984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/>
          <p:nvPr/>
        </p:nvSpPr>
        <p:spPr>
          <a:xfrm rot="1489709">
            <a:off x="5533755" y="263581"/>
            <a:ext cx="6367474" cy="6330838"/>
          </a:xfrm>
          <a:prstGeom prst="arc">
            <a:avLst>
              <a:gd name="adj1" fmla="val 16200000"/>
              <a:gd name="adj2" fmla="val 8135242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p2"/>
          <p:cNvGraphicFramePr/>
          <p:nvPr>
            <p:extLst>
              <p:ext uri="{D42A27DB-BD31-4B8C-83A1-F6EECF244321}">
                <p14:modId xmlns:p14="http://schemas.microsoft.com/office/powerpoint/2010/main" val="3876106437"/>
              </p:ext>
            </p:extLst>
          </p:nvPr>
        </p:nvGraphicFramePr>
        <p:xfrm>
          <a:off x="474979" y="2575981"/>
          <a:ext cx="7786300" cy="3200440"/>
        </p:xfrm>
        <a:graphic>
          <a:graphicData uri="http://schemas.openxmlformats.org/drawingml/2006/table">
            <a:tbl>
              <a:tblPr firstRow="1" bandRow="1">
                <a:noFill/>
                <a:tableStyleId>{E9E9E5CF-2947-4F61-8EDD-BEFD1BBE9331}</a:tableStyleId>
              </a:tblPr>
              <a:tblGrid>
                <a:gridCol w="214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EF8178"/>
                          </a:solidFill>
                        </a:rPr>
                        <a:t>The Problem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EFEDF7"/>
                          </a:solidFill>
                        </a:rPr>
                        <a:t>Multiplayer games suffer from latency, host advantage, and desynchronization due to static P2P or dedicated server architectures.</a:t>
                      </a:r>
                      <a:endParaRPr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EF8178"/>
                          </a:solidFill>
                        </a:rPr>
                        <a:t>Affects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EFEDF7"/>
                          </a:solidFill>
                        </a:rPr>
                        <a:t>Gameplay experience, fairness, and scalability.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EF8178"/>
                          </a:solidFill>
                        </a:rPr>
                        <a:t>The impacts of which is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EFEDF7"/>
                          </a:solidFill>
                        </a:rPr>
                        <a:t>Lag spikes, unfair advantage for host players, increased packet loss during critical game phases.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EF8178"/>
                          </a:solidFill>
                        </a:rPr>
                        <a:t>A successful solution would be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rgbClr val="EFEDF7"/>
                          </a:solidFill>
                        </a:rPr>
                        <a:t>Dynamically switch between P2P and dedicated servers.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rgbClr val="EFEDF7"/>
                          </a:solidFill>
                        </a:rPr>
                        <a:t>Minimize latency and input delay.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rgbClr val="EFEDF7"/>
                          </a:solidFill>
                        </a:rPr>
                        <a:t>Maintain synchronization and preserve game state.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" name="Google Shape;125;p2"/>
          <p:cNvSpPr/>
          <p:nvPr/>
        </p:nvSpPr>
        <p:spPr>
          <a:xfrm>
            <a:off x="180429" y="168600"/>
            <a:ext cx="1470828" cy="1450650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878634" y="783935"/>
            <a:ext cx="40030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Introduction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7" name="Google Shape;127;p2"/>
          <p:cNvSpPr/>
          <p:nvPr/>
        </p:nvSpPr>
        <p:spPr>
          <a:xfrm rot="-3512761">
            <a:off x="4439636" y="3318777"/>
            <a:ext cx="10225071" cy="914400"/>
          </a:xfrm>
          <a:prstGeom prst="rect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7100829" y="-1207599"/>
            <a:ext cx="5380718" cy="8340128"/>
            <a:chOff x="6996654" y="-1103424"/>
            <a:chExt cx="5380718" cy="8340128"/>
          </a:xfrm>
        </p:grpSpPr>
        <p:sp>
          <p:nvSpPr>
            <p:cNvPr id="129" name="Google Shape;129;p2"/>
            <p:cNvSpPr txBox="1"/>
            <p:nvPr/>
          </p:nvSpPr>
          <p:spPr>
            <a:xfrm rot="-3523113">
              <a:off x="6758918" y="6019192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 rot="-3523113">
              <a:off x="7755818" y="4391194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 rot="-3523113">
              <a:off x="8752717" y="2767280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 rot="-3523113">
              <a:off x="9747178" y="1179948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3" name="Google Shape;133;p2"/>
            <p:cNvSpPr txBox="1"/>
            <p:nvPr/>
          </p:nvSpPr>
          <p:spPr>
            <a:xfrm rot="-3523113">
              <a:off x="10695992" y="-409131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7427110" y="-869805"/>
            <a:ext cx="5380594" cy="8367636"/>
            <a:chOff x="7427110" y="-869805"/>
            <a:chExt cx="5380594" cy="8367636"/>
          </a:xfrm>
        </p:grpSpPr>
        <p:sp>
          <p:nvSpPr>
            <p:cNvPr id="135" name="Google Shape;135;p2"/>
            <p:cNvSpPr txBox="1"/>
            <p:nvPr/>
          </p:nvSpPr>
          <p:spPr>
            <a:xfrm rot="7289796">
              <a:off x="7191939" y="6281357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 rot="7289796">
              <a:off x="8186275" y="4627529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 rot="7289796">
              <a:off x="9180611" y="2997455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 rot="7289796">
              <a:off x="10174946" y="1410452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 rot="7289796">
              <a:off x="11123761" y="-176550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140" name="Google Shape;140;p2"/>
          <p:cNvSpPr/>
          <p:nvPr/>
        </p:nvSpPr>
        <p:spPr>
          <a:xfrm rot="-8599861">
            <a:off x="-2085277" y="-2892922"/>
            <a:ext cx="6367474" cy="6330838"/>
          </a:xfrm>
          <a:prstGeom prst="arc">
            <a:avLst>
              <a:gd name="adj1" fmla="val 16200000"/>
              <a:gd name="adj2" fmla="val 8135242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"/>
          <p:cNvGrpSpPr/>
          <p:nvPr/>
        </p:nvGrpSpPr>
        <p:grpSpPr>
          <a:xfrm rot="-3184970">
            <a:off x="1733743" y="7343981"/>
            <a:ext cx="6175915" cy="9206716"/>
            <a:chOff x="6631790" y="-1103424"/>
            <a:chExt cx="6175915" cy="9206716"/>
          </a:xfrm>
        </p:grpSpPr>
        <p:sp>
          <p:nvSpPr>
            <p:cNvPr id="142" name="Google Shape;142;p2"/>
            <p:cNvSpPr/>
            <p:nvPr/>
          </p:nvSpPr>
          <p:spPr>
            <a:xfrm rot="-3512761">
              <a:off x="4577064" y="3046222"/>
              <a:ext cx="10225071" cy="914400"/>
            </a:xfrm>
            <a:prstGeom prst="rect">
              <a:avLst/>
            </a:prstGeom>
            <a:solidFill>
              <a:srgbClr val="E9E5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 txBox="1"/>
            <p:nvPr/>
          </p:nvSpPr>
          <p:spPr>
            <a:xfrm rot="-3523113">
              <a:off x="6758918" y="6019192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44" name="Google Shape;144;p2"/>
            <p:cNvSpPr txBox="1"/>
            <p:nvPr/>
          </p:nvSpPr>
          <p:spPr>
            <a:xfrm rot="-3523113">
              <a:off x="7755818" y="4391194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45" name="Google Shape;145;p2"/>
            <p:cNvSpPr txBox="1"/>
            <p:nvPr/>
          </p:nvSpPr>
          <p:spPr>
            <a:xfrm rot="-3523113">
              <a:off x="8752717" y="2767280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46" name="Google Shape;146;p2"/>
            <p:cNvSpPr txBox="1"/>
            <p:nvPr/>
          </p:nvSpPr>
          <p:spPr>
            <a:xfrm rot="-3523113">
              <a:off x="9747178" y="1179948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47" name="Google Shape;147;p2"/>
            <p:cNvSpPr txBox="1"/>
            <p:nvPr/>
          </p:nvSpPr>
          <p:spPr>
            <a:xfrm rot="-3523113">
              <a:off x="10695992" y="-409131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48" name="Google Shape;148;p2"/>
            <p:cNvSpPr txBox="1"/>
            <p:nvPr/>
          </p:nvSpPr>
          <p:spPr>
            <a:xfrm rot="7289796">
              <a:off x="7191939" y="6281357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49" name="Google Shape;149;p2"/>
            <p:cNvSpPr txBox="1"/>
            <p:nvPr/>
          </p:nvSpPr>
          <p:spPr>
            <a:xfrm rot="7289796">
              <a:off x="8186275" y="4627529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50" name="Google Shape;150;p2"/>
            <p:cNvSpPr txBox="1"/>
            <p:nvPr/>
          </p:nvSpPr>
          <p:spPr>
            <a:xfrm rot="7289796">
              <a:off x="9180611" y="2997455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51" name="Google Shape;151;p2"/>
            <p:cNvSpPr txBox="1"/>
            <p:nvPr/>
          </p:nvSpPr>
          <p:spPr>
            <a:xfrm rot="7289796">
              <a:off x="10174946" y="1410452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  <p:sp>
          <p:nvSpPr>
            <p:cNvPr id="152" name="Google Shape;152;p2"/>
            <p:cNvSpPr txBox="1"/>
            <p:nvPr/>
          </p:nvSpPr>
          <p:spPr>
            <a:xfrm rot="7289796">
              <a:off x="11123761" y="-176550"/>
              <a:ext cx="191911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8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/>
            </a:p>
          </p:txBody>
        </p:sp>
      </p:grpSp>
      <p:sp>
        <p:nvSpPr>
          <p:cNvPr id="153" name="Google Shape;153;p2"/>
          <p:cNvSpPr txBox="1"/>
          <p:nvPr/>
        </p:nvSpPr>
        <p:spPr>
          <a:xfrm>
            <a:off x="11778012" y="6400032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/>
          <p:nvPr/>
        </p:nvSpPr>
        <p:spPr>
          <a:xfrm>
            <a:off x="0" y="723522"/>
            <a:ext cx="4178300" cy="107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A9CFB8-ABFC-D02D-6A71-E3B9B364A5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20077015">
            <a:off x="148208" y="1621749"/>
            <a:ext cx="2852500" cy="2852500"/>
          </a:xfrm>
          <a:prstGeom prst="rect">
            <a:avLst/>
          </a:prstGeom>
        </p:spPr>
      </p:pic>
      <p:sp>
        <p:nvSpPr>
          <p:cNvPr id="159" name="Google Shape;159;p3"/>
          <p:cNvSpPr/>
          <p:nvPr/>
        </p:nvSpPr>
        <p:spPr>
          <a:xfrm rot="-2964680">
            <a:off x="5535943" y="783811"/>
            <a:ext cx="5320992" cy="5290378"/>
          </a:xfrm>
          <a:prstGeom prst="arc">
            <a:avLst>
              <a:gd name="adj1" fmla="val 16200000"/>
              <a:gd name="adj2" fmla="val 5394068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2984430" y="723522"/>
            <a:ext cx="1193870" cy="1079500"/>
          </a:xfrm>
          <a:prstGeom prst="rect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76950" y="847773"/>
            <a:ext cx="355417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4B3B84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Motivation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497185" y="2575493"/>
            <a:ext cx="914400" cy="914400"/>
          </a:xfrm>
          <a:prstGeom prst="rect">
            <a:avLst/>
          </a:prstGeom>
          <a:solidFill>
            <a:srgbClr val="4A3A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499531" y="4254500"/>
            <a:ext cx="914400" cy="914400"/>
          </a:xfrm>
          <a:prstGeom prst="rect">
            <a:avLst/>
          </a:prstGeom>
          <a:solidFill>
            <a:srgbClr val="4A3A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7572586" y="2488028"/>
            <a:ext cx="420308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solidFill>
                  <a:srgbClr val="453377"/>
                </a:solidFill>
              </a:rPr>
              <a:t>Current solutions do not fully address:</a:t>
            </a:r>
          </a:p>
          <a:p>
            <a:pPr marL="285750" lvl="0" indent="-285750">
              <a:buClr>
                <a:srgbClr val="453377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3377"/>
                </a:solidFill>
              </a:rPr>
              <a:t>Host migration</a:t>
            </a:r>
          </a:p>
          <a:p>
            <a:pPr marL="285750" lvl="0" indent="-285750">
              <a:buClr>
                <a:srgbClr val="453377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3377"/>
                </a:solidFill>
              </a:rPr>
              <a:t>Lag spikes during architecture transition</a:t>
            </a:r>
          </a:p>
          <a:p>
            <a:pPr marL="285750" lvl="0" indent="-285750">
              <a:buClr>
                <a:srgbClr val="453377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3377"/>
                </a:solidFill>
              </a:rPr>
              <a:t>Real-time network condition adaptation</a:t>
            </a:r>
            <a:endParaRPr sz="1600" dirty="0">
              <a:solidFill>
                <a:srgbClr val="453377"/>
              </a:solidFill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542909" y="4191705"/>
            <a:ext cx="373974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solidFill>
                  <a:srgbClr val="4A3A82"/>
                </a:solidFill>
              </a:rPr>
              <a:t>Goal: Provide adaptive, resilient multiplayer networking that improves player experience.</a:t>
            </a:r>
            <a:endParaRPr b="1" dirty="0">
              <a:solidFill>
                <a:srgbClr val="EF8178"/>
              </a:solidFill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-594414" y="5113163"/>
            <a:ext cx="2256958" cy="2225996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 rot="6582357">
            <a:off x="3720299" y="2852717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 rot="-4123789">
            <a:off x="1781349" y="-2350286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-1457818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706407" y="-844646"/>
            <a:ext cx="55274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EF817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Literature Review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11778012" y="6400032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aphicFrame>
        <p:nvGraphicFramePr>
          <p:cNvPr id="2" name="Google Shape;191;p4">
            <a:extLst>
              <a:ext uri="{FF2B5EF4-FFF2-40B4-BE49-F238E27FC236}">
                <a16:creationId xmlns:a16="http://schemas.microsoft.com/office/drawing/2014/main" id="{052F0F7F-2CC2-A722-CE96-C89473261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413058"/>
              </p:ext>
            </p:extLst>
          </p:nvPr>
        </p:nvGraphicFramePr>
        <p:xfrm>
          <a:off x="298450" y="7374455"/>
          <a:ext cx="11479562" cy="4927575"/>
        </p:xfrm>
        <a:graphic>
          <a:graphicData uri="http://schemas.openxmlformats.org/drawingml/2006/table">
            <a:tbl>
              <a:tblPr bandCol="1">
                <a:noFill/>
                <a:tableStyleId>{F80435F4-3B33-48C1-B044-35B0DE946C20}</a:tableStyleId>
              </a:tblPr>
              <a:tblGrid>
                <a:gridCol w="1423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2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7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Title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Authors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Summary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rgbClr val="EF8178"/>
                          </a:solidFill>
                        </a:rPr>
                        <a:t>Limitations</a:t>
                      </a:r>
                      <a:endParaRPr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rgbClr val="453377"/>
                          </a:solidFill>
                        </a:rPr>
                        <a:t>Enhancing Cross-Regional Multiplayer Gaming</a:t>
                      </a:r>
                      <a:endParaRPr sz="1800" dirty="0"/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rgbClr val="453377"/>
                          </a:solidFill>
                        </a:rPr>
                        <a:t>-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dirty="0">
                          <a:solidFill>
                            <a:srgbClr val="453377"/>
                          </a:solidFill>
                        </a:rPr>
                        <a:t>Evaluates client-side prediction for reducing lag under high latency.</a:t>
                      </a:r>
                      <a:endParaRPr sz="1600" dirty="0">
                        <a:solidFill>
                          <a:srgbClr val="453377"/>
                        </a:solidFill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dirty="0">
                          <a:solidFill>
                            <a:srgbClr val="453377"/>
                          </a:solidFill>
                        </a:rPr>
                        <a:t>Focuses only on lag mitigation; not architecture switching.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5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dirty="0" err="1">
                          <a:solidFill>
                            <a:srgbClr val="453377"/>
                          </a:solidFill>
                        </a:rPr>
                        <a:t>Netskip:A</a:t>
                      </a:r>
                      <a:r>
                        <a:rPr lang="en-US" sz="1800" dirty="0">
                          <a:solidFill>
                            <a:srgbClr val="453377"/>
                          </a:solidFill>
                        </a:rPr>
                        <a:t> Novel Architecture for Consistent Multiplayer Videogame State</a:t>
                      </a:r>
                      <a:endParaRPr sz="1800" dirty="0">
                        <a:solidFill>
                          <a:srgbClr val="453377"/>
                        </a:solidFill>
                      </a:endParaRPr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rgbClr val="453377"/>
                          </a:solidFill>
                        </a:rPr>
                        <a:t>-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453377"/>
                          </a:solidFill>
                        </a:rPr>
                        <a:t>Hybrid architecture combining P2P &amp; client-server for consistency.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453377"/>
                          </a:solidFill>
                        </a:rPr>
                        <a:t>Not focused on runtime switching; no dynamic failover analysis.</a:t>
                      </a:r>
                      <a:endParaRPr lang="en-US" sz="1800" b="1" dirty="0">
                        <a:solidFill>
                          <a:srgbClr val="453377"/>
                        </a:solidFill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0B8EEE5-C214-F0BA-D836-0090804F36B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 rot="2041484">
            <a:off x="3386383" y="3091881"/>
            <a:ext cx="2468693" cy="24686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6C3E8F-16A0-54B0-57B4-9D8567AB66A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604092" y="2703995"/>
            <a:ext cx="700586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5EF099-9908-6885-9196-3FBAFD8C7AB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632298" y="4388153"/>
            <a:ext cx="644174" cy="644174"/>
          </a:xfrm>
          <a:prstGeom prst="rect">
            <a:avLst/>
          </a:prstGeom>
        </p:spPr>
      </p:pic>
      <p:sp>
        <p:nvSpPr>
          <p:cNvPr id="18" name="Google Shape;166;p3">
            <a:extLst>
              <a:ext uri="{FF2B5EF4-FFF2-40B4-BE49-F238E27FC236}">
                <a16:creationId xmlns:a16="http://schemas.microsoft.com/office/drawing/2014/main" id="{A2A93F14-F7CF-3B05-17BF-D625863AA994}"/>
              </a:ext>
            </a:extLst>
          </p:cNvPr>
          <p:cNvSpPr/>
          <p:nvPr/>
        </p:nvSpPr>
        <p:spPr>
          <a:xfrm>
            <a:off x="6499531" y="1098428"/>
            <a:ext cx="914400" cy="914400"/>
          </a:xfrm>
          <a:prstGeom prst="rect">
            <a:avLst/>
          </a:prstGeom>
          <a:solidFill>
            <a:srgbClr val="4A3A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;p3">
            <a:extLst>
              <a:ext uri="{FF2B5EF4-FFF2-40B4-BE49-F238E27FC236}">
                <a16:creationId xmlns:a16="http://schemas.microsoft.com/office/drawing/2014/main" id="{C0517668-059C-F315-ABB4-197AC225658D}"/>
              </a:ext>
            </a:extLst>
          </p:cNvPr>
          <p:cNvSpPr txBox="1"/>
          <p:nvPr/>
        </p:nvSpPr>
        <p:spPr>
          <a:xfrm>
            <a:off x="7542909" y="1035633"/>
            <a:ext cx="373974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solidFill>
                  <a:srgbClr val="4A3A82"/>
                </a:solidFill>
              </a:rPr>
              <a:t>Modern games adopt hybrid architectures, but seamless runtime switching is challenging.</a:t>
            </a:r>
            <a:endParaRPr lang="en-US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379744-8E91-5FCF-9017-BA4993FEF86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6707257" y="1308527"/>
            <a:ext cx="485470" cy="4854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/>
          <p:nvPr/>
        </p:nvSpPr>
        <p:spPr>
          <a:xfrm rot="-1563629">
            <a:off x="3720299" y="2852717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 rot="9235782">
            <a:off x="1781349" y="-2350286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p4"/>
          <p:cNvGraphicFramePr/>
          <p:nvPr>
            <p:extLst>
              <p:ext uri="{D42A27DB-BD31-4B8C-83A1-F6EECF244321}">
                <p14:modId xmlns:p14="http://schemas.microsoft.com/office/powerpoint/2010/main" val="3485080601"/>
              </p:ext>
            </p:extLst>
          </p:nvPr>
        </p:nvGraphicFramePr>
        <p:xfrm>
          <a:off x="298450" y="1611830"/>
          <a:ext cx="11488266" cy="5064750"/>
        </p:xfrm>
        <a:graphic>
          <a:graphicData uri="http://schemas.openxmlformats.org/drawingml/2006/table">
            <a:tbl>
              <a:tblPr bandCol="1">
                <a:noFill/>
                <a:tableStyleId>{F80435F4-3B33-48C1-B044-35B0DE946C20}</a:tableStyleId>
              </a:tblPr>
              <a:tblGrid>
                <a:gridCol w="129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464">
                  <a:extLst>
                    <a:ext uri="{9D8B030D-6E8A-4147-A177-3AD203B41FA5}">
                      <a16:colId xmlns:a16="http://schemas.microsoft.com/office/drawing/2014/main" val="462341217"/>
                    </a:ext>
                  </a:extLst>
                </a:gridCol>
                <a:gridCol w="1416817">
                  <a:extLst>
                    <a:ext uri="{9D8B030D-6E8A-4147-A177-3AD203B41FA5}">
                      <a16:colId xmlns:a16="http://schemas.microsoft.com/office/drawing/2014/main" val="1432631218"/>
                    </a:ext>
                  </a:extLst>
                </a:gridCol>
                <a:gridCol w="3898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7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Title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Year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of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Publication</a:t>
                      </a:r>
                      <a:endParaRPr sz="1600" b="1" i="0" u="none" strike="noStrike" cap="none" dirty="0">
                        <a:solidFill>
                          <a:srgbClr val="EF8178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Journal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Taken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from</a:t>
                      </a:r>
                      <a:endParaRPr sz="1600" b="1" i="0" u="none" strike="noStrike" cap="none" dirty="0">
                        <a:solidFill>
                          <a:srgbClr val="EF8178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Summary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Limitations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2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rgbClr val="453377"/>
                          </a:solidFill>
                        </a:rPr>
                        <a:t>Enhancing Cross-Regional Multiplayer Gaming</a:t>
                      </a:r>
                      <a:endParaRPr sz="1800" dirty="0"/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2023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IEEE Access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Evaluates client-side prediction in high-latency multiplayer games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Reduces perceived lag by predicting player actions locally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Improves responsiveness before server confirmation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Shows measurable latency reduction in experiments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453377"/>
                          </a:solidFill>
                        </a:rPr>
                        <a:t>Focuses only on lag mitigation; not architecture switching.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54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Real-time Latency Prediction for Cloud Gaming Applications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2025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Computer Networks (Elsevier)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Predicts upcoming latency spikes in real time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Uses RTT, jitter, packet delay variation, bandwidth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Improves Quality of Experience (</a:t>
                      </a:r>
                      <a:r>
                        <a:rPr lang="en-US" sz="1800" b="0" i="0" u="none" strike="noStrike" cap="none" dirty="0" err="1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QoE</a:t>
                      </a: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)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Cloud gaming focused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multiplayer state synchronization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P2P or hybrid architecture discussion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2" name="Google Shape;192;p4"/>
          <p:cNvSpPr txBox="1"/>
          <p:nvPr/>
        </p:nvSpPr>
        <p:spPr>
          <a:xfrm>
            <a:off x="706407" y="505178"/>
            <a:ext cx="55274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Literature Review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11778012" y="86758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 rot="-1563629">
            <a:off x="3720299" y="2852717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 rot="9235782">
            <a:off x="1781349" y="-2350286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706407" y="505178"/>
            <a:ext cx="791673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Literature Review </a:t>
            </a:r>
            <a:r>
              <a:rPr lang="en-US" sz="32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(cont...)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1791456" y="94196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graphicFrame>
        <p:nvGraphicFramePr>
          <p:cNvPr id="2" name="Google Shape;191;p4">
            <a:extLst>
              <a:ext uri="{FF2B5EF4-FFF2-40B4-BE49-F238E27FC236}">
                <a16:creationId xmlns:a16="http://schemas.microsoft.com/office/drawing/2014/main" id="{BC7CC053-209F-8F59-3FB2-F9E1C75E15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9243012"/>
              </p:ext>
            </p:extLst>
          </p:nvPr>
        </p:nvGraphicFramePr>
        <p:xfrm>
          <a:off x="316697" y="1546720"/>
          <a:ext cx="11558605" cy="5008948"/>
        </p:xfrm>
        <a:graphic>
          <a:graphicData uri="http://schemas.openxmlformats.org/drawingml/2006/table">
            <a:tbl>
              <a:tblPr bandCol="1">
                <a:noFill/>
                <a:tableStyleId>{F80435F4-3B33-48C1-B044-35B0DE946C20}</a:tableStyleId>
              </a:tblPr>
              <a:tblGrid>
                <a:gridCol w="146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189">
                  <a:extLst>
                    <a:ext uri="{9D8B030D-6E8A-4147-A177-3AD203B41FA5}">
                      <a16:colId xmlns:a16="http://schemas.microsoft.com/office/drawing/2014/main" val="462341217"/>
                    </a:ext>
                  </a:extLst>
                </a:gridCol>
                <a:gridCol w="1527349">
                  <a:extLst>
                    <a:ext uri="{9D8B030D-6E8A-4147-A177-3AD203B41FA5}">
                      <a16:colId xmlns:a16="http://schemas.microsoft.com/office/drawing/2014/main" val="1432631218"/>
                    </a:ext>
                  </a:extLst>
                </a:gridCol>
                <a:gridCol w="3610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4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3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Title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Year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of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Publication</a:t>
                      </a:r>
                      <a:endParaRPr sz="1600" b="1" i="0" u="none" strike="noStrike" cap="none" dirty="0">
                        <a:solidFill>
                          <a:srgbClr val="EF8178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Journal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Taken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from</a:t>
                      </a:r>
                      <a:endParaRPr sz="1600" b="1" i="0" u="none" strike="noStrike" cap="none" dirty="0">
                        <a:solidFill>
                          <a:srgbClr val="EF8178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Summary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Limitations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73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 err="1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Netskip</a:t>
                      </a: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—A Novel Architecture for Consistent Multiplayer Videogame State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2025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IEEE Access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Proposes a hybrid P2P + client-server architecture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Uses CRDTs for consistent game state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Improves fault tolerance and resilience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Architecture is static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runtime switching logic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Added overhead due to CRDT management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CRDT-Based Game State Synchronization in P2P VR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2025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IEEE TVCG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Uses CRDTs for decentralized state synchronization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Maintains consistency under packet loss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Tolerant to network delays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Limited to VR &amp; P2P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server-based or hybrid switching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Higher computational overhead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 rot="-1563629">
            <a:off x="3720299" y="2852717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 rot="9235782">
            <a:off x="1781349" y="-2350286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06407" y="505178"/>
            <a:ext cx="711807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Literature Review </a:t>
            </a:r>
            <a:r>
              <a:rPr lang="en-US" sz="32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(cont...)</a:t>
            </a:r>
            <a:endParaRPr lang="en-US" sz="4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11778012" y="77030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-1304662" y="196064"/>
            <a:ext cx="1191886" cy="1175536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91;p4">
            <a:extLst>
              <a:ext uri="{FF2B5EF4-FFF2-40B4-BE49-F238E27FC236}">
                <a16:creationId xmlns:a16="http://schemas.microsoft.com/office/drawing/2014/main" id="{C0EEED8F-5AA7-2736-8AD0-E3F2D5700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298750"/>
              </p:ext>
            </p:extLst>
          </p:nvPr>
        </p:nvGraphicFramePr>
        <p:xfrm>
          <a:off x="356219" y="1530441"/>
          <a:ext cx="11479561" cy="5008948"/>
        </p:xfrm>
        <a:graphic>
          <a:graphicData uri="http://schemas.openxmlformats.org/drawingml/2006/table">
            <a:tbl>
              <a:tblPr bandCol="1">
                <a:noFill/>
                <a:tableStyleId>{F80435F4-3B33-48C1-B044-35B0DE946C20}</a:tableStyleId>
              </a:tblPr>
              <a:tblGrid>
                <a:gridCol w="1482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772">
                  <a:extLst>
                    <a:ext uri="{9D8B030D-6E8A-4147-A177-3AD203B41FA5}">
                      <a16:colId xmlns:a16="http://schemas.microsoft.com/office/drawing/2014/main" val="462341217"/>
                    </a:ext>
                  </a:extLst>
                </a:gridCol>
                <a:gridCol w="1550604">
                  <a:extLst>
                    <a:ext uri="{9D8B030D-6E8A-4147-A177-3AD203B41FA5}">
                      <a16:colId xmlns:a16="http://schemas.microsoft.com/office/drawing/2014/main" val="1432631218"/>
                    </a:ext>
                  </a:extLst>
                </a:gridCol>
                <a:gridCol w="366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5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3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Title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Year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of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Publication</a:t>
                      </a:r>
                      <a:endParaRPr sz="1600" b="1" i="0" u="none" strike="noStrike" cap="none" dirty="0">
                        <a:solidFill>
                          <a:srgbClr val="EF8178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Journal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Taken</a:t>
                      </a:r>
                      <a:r>
                        <a:rPr lang="en-US" dirty="0"/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rgbClr val="EF8178"/>
                          </a:solidFill>
                          <a:latin typeface="Aptos"/>
                          <a:sym typeface="Arial"/>
                        </a:rPr>
                        <a:t>from</a:t>
                      </a:r>
                      <a:endParaRPr sz="1600" b="1" i="0" u="none" strike="noStrike" cap="none" dirty="0">
                        <a:solidFill>
                          <a:srgbClr val="EF8178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Summary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178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EF8178"/>
                          </a:solidFill>
                        </a:rPr>
                        <a:t>Limitations</a:t>
                      </a:r>
                      <a:endParaRPr dirty="0"/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73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Network Optimizing Software Solution for Multiplayer Gaming</a:t>
                      </a:r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2024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ITU Journal of Wireless Communications and Cybersecurity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Uses </a:t>
                      </a:r>
                      <a:r>
                        <a:rPr lang="en-US" sz="1800" b="0" i="0" u="none" strike="noStrike" cap="none" dirty="0" err="1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OMNeT</a:t>
                      </a: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++ / INET for network simulation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Evaluates latency &amp; packet loss handling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Improves QoS under stressed conditions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Simulation-only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real-world deployment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dynamic architecture switching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AFLL: Real-Time Load Stabilization for MMO Game Servers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F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2026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IEEE Transactions on Games</a:t>
                      </a:r>
                      <a:endParaRPr sz="1800" b="0" i="0" u="none" strike="noStrike" cap="none" dirty="0">
                        <a:solidFill>
                          <a:srgbClr val="453377"/>
                        </a:solidFill>
                        <a:latin typeface="Aptos"/>
                        <a:sym typeface="Arial"/>
                      </a:endParaRP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Proposes adaptive server load stabilization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Uses learning-based techniques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Reduces latency during high load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Focused on MMO servers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 P2P support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3377"/>
                        </a:buClr>
                        <a:buSzPts val="16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53377"/>
                          </a:solidFill>
                          <a:latin typeface="Aptos"/>
                          <a:sym typeface="Arial"/>
                        </a:rPr>
                        <a:t>Not designed for architecture switching</a:t>
                      </a:r>
                    </a:p>
                  </a:txBody>
                  <a:tcPr marL="6675" marR="6675" marT="0" marB="3325">
                    <a:solidFill>
                      <a:srgbClr val="E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706407" y="505178"/>
            <a:ext cx="424667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Datasets</a:t>
            </a:r>
          </a:p>
        </p:txBody>
      </p:sp>
      <p:sp>
        <p:nvSpPr>
          <p:cNvPr id="264" name="Google Shape;264;p10"/>
          <p:cNvSpPr/>
          <p:nvPr/>
        </p:nvSpPr>
        <p:spPr>
          <a:xfrm>
            <a:off x="6096000" y="-2721"/>
            <a:ext cx="6096000" cy="6858000"/>
          </a:xfrm>
          <a:prstGeom prst="rect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 rot="-3025648">
            <a:off x="5843959" y="5807731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 rot="8804575">
            <a:off x="9220577" y="-4306426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11778012" y="6400032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E55F09-2200-2077-F899-55E03C8469D8}"/>
              </a:ext>
            </a:extLst>
          </p:cNvPr>
          <p:cNvSpPr txBox="1"/>
          <p:nvPr/>
        </p:nvSpPr>
        <p:spPr>
          <a:xfrm>
            <a:off x="350021" y="2143394"/>
            <a:ext cx="53764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>
                <a:solidFill>
                  <a:srgbClr val="E9E5F4"/>
                </a:solidFill>
              </a:rPr>
              <a:t>Dataset 1: RIPE Atlas (Latency RTT)</a:t>
            </a:r>
          </a:p>
          <a:p>
            <a:pPr lvl="0"/>
            <a:r>
              <a:rPr lang="en-US" sz="2000" b="1" dirty="0">
                <a:solidFill>
                  <a:srgbClr val="E9E5F4"/>
                </a:solidFill>
              </a:rPr>
              <a:t>Description</a:t>
            </a:r>
            <a:r>
              <a:rPr lang="en-US" sz="1800" b="1" dirty="0">
                <a:solidFill>
                  <a:srgbClr val="E9E5F4"/>
                </a:solidFill>
              </a:rPr>
              <a:t>:</a:t>
            </a:r>
          </a:p>
          <a:p>
            <a:pPr marL="285750" lvl="0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9E5F4"/>
                </a:solidFill>
              </a:rPr>
              <a:t>Real network conditions for latency analysis.</a:t>
            </a:r>
          </a:p>
          <a:p>
            <a:pPr lvl="0">
              <a:spcAft>
                <a:spcPts val="600"/>
              </a:spcAft>
              <a:buClr>
                <a:schemeClr val="bg1"/>
              </a:buClr>
            </a:pPr>
            <a:r>
              <a:rPr lang="en-US" sz="2000" b="1" dirty="0">
                <a:solidFill>
                  <a:srgbClr val="E9E5F4"/>
                </a:solidFill>
              </a:rPr>
              <a:t>Purpose</a:t>
            </a:r>
            <a:r>
              <a:rPr lang="en-US" sz="1800" b="1" dirty="0">
                <a:solidFill>
                  <a:srgbClr val="E9E5F4"/>
                </a:solidFill>
              </a:rPr>
              <a:t>:</a:t>
            </a:r>
          </a:p>
          <a:p>
            <a:pPr marL="285750" lvl="0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9E5F4"/>
                </a:solidFill>
              </a:rPr>
              <a:t>Helps determine optimal switching points and test architecture decisions.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E159-73E4-BBB2-6239-F2540483006A}"/>
              </a:ext>
            </a:extLst>
          </p:cNvPr>
          <p:cNvSpPr txBox="1"/>
          <p:nvPr/>
        </p:nvSpPr>
        <p:spPr>
          <a:xfrm>
            <a:off x="6484330" y="2143394"/>
            <a:ext cx="53193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B3B84"/>
                </a:solidFill>
              </a:rPr>
              <a:t>FCC Measuring Broadband America</a:t>
            </a:r>
          </a:p>
          <a:p>
            <a:r>
              <a:rPr lang="en-US" sz="2000" b="1" dirty="0">
                <a:solidFill>
                  <a:srgbClr val="4B3B84"/>
                </a:solidFill>
              </a:rPr>
              <a:t>Description</a:t>
            </a:r>
            <a:r>
              <a:rPr lang="en-US" sz="2400" b="1" dirty="0">
                <a:solidFill>
                  <a:srgbClr val="4B3B84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B3B84"/>
                </a:solidFill>
              </a:rPr>
              <a:t>Consumer broadband performance data</a:t>
            </a:r>
          </a:p>
          <a:p>
            <a:r>
              <a:rPr lang="en-US" sz="2000" b="1" dirty="0">
                <a:solidFill>
                  <a:srgbClr val="4B3B84"/>
                </a:solidFill>
              </a:rPr>
              <a:t>Purpose</a:t>
            </a:r>
            <a:r>
              <a:rPr lang="en-US" sz="2400" b="1" dirty="0">
                <a:solidFill>
                  <a:srgbClr val="4B3B84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B3B84"/>
                </a:solidFill>
              </a:rPr>
              <a:t>Model realistic home-user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B3B84"/>
                </a:solidFill>
              </a:rPr>
              <a:t>To evaluate switching under poor ISP quality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204822" y="196064"/>
            <a:ext cx="1191886" cy="1175536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800765" y="540603"/>
            <a:ext cx="822693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5B449E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Product Comparisons</a:t>
            </a:r>
            <a:endParaRPr sz="4800" b="1" dirty="0">
              <a:solidFill>
                <a:srgbClr val="5B449E"/>
              </a:solidFill>
              <a:latin typeface="Aharoni" panose="02010803020104030203" pitchFamily="2" charset="-79"/>
              <a:ea typeface="Quattrocento Sans"/>
              <a:cs typeface="Aharoni" panose="02010803020104030203" pitchFamily="2" charset="-79"/>
              <a:sym typeface="Quattrocento Sans"/>
            </a:endParaRPr>
          </a:p>
        </p:txBody>
      </p:sp>
      <p:graphicFrame>
        <p:nvGraphicFramePr>
          <p:cNvPr id="225" name="Google Shape;225;p7"/>
          <p:cNvGraphicFramePr/>
          <p:nvPr>
            <p:extLst>
              <p:ext uri="{D42A27DB-BD31-4B8C-83A1-F6EECF244321}">
                <p14:modId xmlns:p14="http://schemas.microsoft.com/office/powerpoint/2010/main" val="870985516"/>
              </p:ext>
            </p:extLst>
          </p:nvPr>
        </p:nvGraphicFramePr>
        <p:xfrm>
          <a:off x="558800" y="2059641"/>
          <a:ext cx="11074400" cy="4602296"/>
        </p:xfrm>
        <a:graphic>
          <a:graphicData uri="http://schemas.openxmlformats.org/drawingml/2006/table">
            <a:tbl>
              <a:tblPr firstRow="1" bandRow="1">
                <a:noFill/>
                <a:tableStyleId>{E7D6F121-FD7D-400F-A9C0-410E1ED99F87}</a:tableStyleId>
              </a:tblPr>
              <a:tblGrid>
                <a:gridCol w="169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4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/>
                        <a:t>Feature</a:t>
                      </a:r>
                      <a:endParaRPr sz="20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P2P</a:t>
                      </a:r>
                      <a:endParaRPr sz="20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Dedicated Server</a:t>
                      </a:r>
                      <a:endParaRPr sz="20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Hybrid (Proposed)</a:t>
                      </a:r>
                      <a:endParaRPr sz="20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74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Cost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Low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High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-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2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Fairness</a:t>
                      </a:r>
                      <a:endParaRPr lang="en-US" sz="16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Low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5F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5F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-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2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Scalability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Limited</a:t>
                      </a:r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High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Medium-High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12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Lag Compensation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Limited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Moderate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Optimized with prediction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991107"/>
                  </a:ext>
                </a:extLst>
              </a:tr>
              <a:tr h="8212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Host Migration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Problematic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N/A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5E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dirty="0"/>
                        <a:t>Supported dynamically</a:t>
                      </a:r>
                      <a:endParaRPr sz="1600" dirty="0"/>
                    </a:p>
                  </a:txBody>
                  <a:tcPr marL="91450" marR="91450" marT="45725" marB="45725" anchor="ctr">
                    <a:solidFill>
                      <a:srgbClr val="5B449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162786"/>
                  </a:ext>
                </a:extLst>
              </a:tr>
            </a:tbl>
          </a:graphicData>
        </a:graphic>
      </p:graphicFrame>
      <p:sp>
        <p:nvSpPr>
          <p:cNvPr id="226" name="Google Shape;226;p7"/>
          <p:cNvSpPr txBox="1"/>
          <p:nvPr/>
        </p:nvSpPr>
        <p:spPr>
          <a:xfrm>
            <a:off x="11778012" y="6400032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dirty="0"/>
          </a:p>
        </p:txBody>
      </p:sp>
      <p:sp>
        <p:nvSpPr>
          <p:cNvPr id="227" name="Google Shape;227;p7"/>
          <p:cNvSpPr/>
          <p:nvPr/>
        </p:nvSpPr>
        <p:spPr>
          <a:xfrm>
            <a:off x="-1443301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706407" y="-1076878"/>
            <a:ext cx="42466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Datasets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292E3D29-1BA2-08A1-9497-3531F221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>
            <a:extLst>
              <a:ext uri="{FF2B5EF4-FFF2-40B4-BE49-F238E27FC236}">
                <a16:creationId xmlns:a16="http://schemas.microsoft.com/office/drawing/2014/main" id="{EB63C93C-84B8-2EA4-D105-E1CECC980131}"/>
              </a:ext>
            </a:extLst>
          </p:cNvPr>
          <p:cNvSpPr/>
          <p:nvPr/>
        </p:nvSpPr>
        <p:spPr>
          <a:xfrm rot="9925452">
            <a:off x="6219406" y="-3067004"/>
            <a:ext cx="10242086" cy="10183156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C0C414-29CC-ECF9-1751-6CC47A15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848134" y="990259"/>
            <a:ext cx="4877481" cy="4877481"/>
          </a:xfrm>
          <a:prstGeom prst="rect">
            <a:avLst/>
          </a:prstGeom>
        </p:spPr>
      </p:pic>
      <p:sp>
        <p:nvSpPr>
          <p:cNvPr id="310" name="Google Shape;310;p13">
            <a:extLst>
              <a:ext uri="{FF2B5EF4-FFF2-40B4-BE49-F238E27FC236}">
                <a16:creationId xmlns:a16="http://schemas.microsoft.com/office/drawing/2014/main" id="{079F34DF-9DE9-E737-4CF7-29F18E124C5D}"/>
              </a:ext>
            </a:extLst>
          </p:cNvPr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>
            <a:extLst>
              <a:ext uri="{FF2B5EF4-FFF2-40B4-BE49-F238E27FC236}">
                <a16:creationId xmlns:a16="http://schemas.microsoft.com/office/drawing/2014/main" id="{584A284F-E1F2-8803-195A-97D680A1885E}"/>
              </a:ext>
            </a:extLst>
          </p:cNvPr>
          <p:cNvSpPr txBox="1"/>
          <p:nvPr/>
        </p:nvSpPr>
        <p:spPr>
          <a:xfrm>
            <a:off x="706407" y="505178"/>
            <a:ext cx="57759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Proposed Solution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13" name="Google Shape;313;p13">
            <a:extLst>
              <a:ext uri="{FF2B5EF4-FFF2-40B4-BE49-F238E27FC236}">
                <a16:creationId xmlns:a16="http://schemas.microsoft.com/office/drawing/2014/main" id="{C5734FE3-A260-7983-36BA-19AA982EC61E}"/>
              </a:ext>
            </a:extLst>
          </p:cNvPr>
          <p:cNvSpPr/>
          <p:nvPr/>
        </p:nvSpPr>
        <p:spPr>
          <a:xfrm rot="-1930767">
            <a:off x="-593406" y="6473801"/>
            <a:ext cx="2687782" cy="768397"/>
          </a:xfrm>
          <a:prstGeom prst="roundRect">
            <a:avLst>
              <a:gd name="adj" fmla="val 50000"/>
            </a:avLst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>
            <a:extLst>
              <a:ext uri="{FF2B5EF4-FFF2-40B4-BE49-F238E27FC236}">
                <a16:creationId xmlns:a16="http://schemas.microsoft.com/office/drawing/2014/main" id="{CA5DCA99-6CA4-4BDB-CA63-9C09016269F9}"/>
              </a:ext>
            </a:extLst>
          </p:cNvPr>
          <p:cNvSpPr/>
          <p:nvPr/>
        </p:nvSpPr>
        <p:spPr>
          <a:xfrm rot="-1930767">
            <a:off x="-1020573" y="6455362"/>
            <a:ext cx="1764371" cy="341644"/>
          </a:xfrm>
          <a:prstGeom prst="roundRect">
            <a:avLst>
              <a:gd name="adj" fmla="val 50000"/>
            </a:avLst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>
            <a:extLst>
              <a:ext uri="{FF2B5EF4-FFF2-40B4-BE49-F238E27FC236}">
                <a16:creationId xmlns:a16="http://schemas.microsoft.com/office/drawing/2014/main" id="{3A87A608-6949-C8E5-B284-53BD7BD0C4FA}"/>
              </a:ext>
            </a:extLst>
          </p:cNvPr>
          <p:cNvSpPr/>
          <p:nvPr/>
        </p:nvSpPr>
        <p:spPr>
          <a:xfrm rot="-3598142">
            <a:off x="8399220" y="-1929116"/>
            <a:ext cx="4889758" cy="4861626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>
            <a:extLst>
              <a:ext uri="{FF2B5EF4-FFF2-40B4-BE49-F238E27FC236}">
                <a16:creationId xmlns:a16="http://schemas.microsoft.com/office/drawing/2014/main" id="{6F7B35C3-C58A-6AD0-749A-9D929021A8FA}"/>
              </a:ext>
            </a:extLst>
          </p:cNvPr>
          <p:cNvSpPr txBox="1"/>
          <p:nvPr/>
        </p:nvSpPr>
        <p:spPr>
          <a:xfrm>
            <a:off x="11640312" y="6400032"/>
            <a:ext cx="46841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4F46E-087D-EE40-ACE6-F5554B8DCB71}"/>
              </a:ext>
            </a:extLst>
          </p:cNvPr>
          <p:cNvSpPr txBox="1"/>
          <p:nvPr/>
        </p:nvSpPr>
        <p:spPr>
          <a:xfrm>
            <a:off x="883920" y="1851660"/>
            <a:ext cx="8663940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Master server monitors network health metrics: RTT, jitter, packet loss, bandwidth.</a:t>
            </a:r>
          </a:p>
          <a:p>
            <a:pPr marL="285750" indent="-28575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Dynamically switches architecture: P2P ↔ Dedicated Server.</a:t>
            </a:r>
          </a:p>
          <a:p>
            <a:pPr marL="285750" indent="-28575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Applies lag mitigation techniques: client-</a:t>
            </a:r>
            <a:r>
              <a:rPr lang="fr-FR" sz="2000" dirty="0" err="1">
                <a:solidFill>
                  <a:schemeClr val="bg1"/>
                </a:solidFill>
              </a:rPr>
              <a:t>side</a:t>
            </a:r>
            <a:r>
              <a:rPr lang="fr-FR" sz="2000" dirty="0">
                <a:solidFill>
                  <a:schemeClr val="bg1"/>
                </a:solidFill>
              </a:rPr>
              <a:t> prediction, server reconciliation.</a:t>
            </a:r>
          </a:p>
          <a:p>
            <a:pPr marL="285750" indent="-28575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Synchronizes game state using CRDTs and snapshot replication.</a:t>
            </a:r>
          </a:p>
          <a:p>
            <a:pPr marL="285750" indent="-28575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Handles host migration and failover seamlessly.</a:t>
            </a:r>
          </a:p>
        </p:txBody>
      </p:sp>
      <p:sp>
        <p:nvSpPr>
          <p:cNvPr id="13" name="Google Shape;313;p13">
            <a:extLst>
              <a:ext uri="{FF2B5EF4-FFF2-40B4-BE49-F238E27FC236}">
                <a16:creationId xmlns:a16="http://schemas.microsoft.com/office/drawing/2014/main" id="{7830A2F0-489F-D84B-694F-11ED9C64CC89}"/>
              </a:ext>
            </a:extLst>
          </p:cNvPr>
          <p:cNvSpPr/>
          <p:nvPr/>
        </p:nvSpPr>
        <p:spPr>
          <a:xfrm rot="19669233">
            <a:off x="2810480" y="6668475"/>
            <a:ext cx="2687782" cy="768397"/>
          </a:xfrm>
          <a:prstGeom prst="roundRect">
            <a:avLst>
              <a:gd name="adj" fmla="val 50000"/>
            </a:avLst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14;p13">
            <a:extLst>
              <a:ext uri="{FF2B5EF4-FFF2-40B4-BE49-F238E27FC236}">
                <a16:creationId xmlns:a16="http://schemas.microsoft.com/office/drawing/2014/main" id="{C36C29AC-A2B8-9959-0331-06931F63F75A}"/>
              </a:ext>
            </a:extLst>
          </p:cNvPr>
          <p:cNvSpPr/>
          <p:nvPr/>
        </p:nvSpPr>
        <p:spPr>
          <a:xfrm rot="19669233">
            <a:off x="2383313" y="6650036"/>
            <a:ext cx="1764371" cy="341644"/>
          </a:xfrm>
          <a:prstGeom prst="roundRect">
            <a:avLst>
              <a:gd name="adj" fmla="val 50000"/>
            </a:avLst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4914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2639"/>
            <a:ext cx="6096000" cy="6858000"/>
          </a:xfrm>
          <a:prstGeom prst="rect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B3B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 rot="-7622726">
            <a:off x="8052603" y="3342552"/>
            <a:ext cx="5320992" cy="5290378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706407" y="505178"/>
            <a:ext cx="429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Project Scope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416682" y="1631244"/>
            <a:ext cx="5454635" cy="320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Out-of-scope:</a:t>
            </a:r>
            <a:r>
              <a:rPr lang="en-US" sz="2400" b="0" i="0" u="none" strike="noStrike" cap="none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4B3B8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3B84"/>
                </a:solidFill>
              </a:rPr>
              <a:t>MMO-scale games.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4B3B84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3B84"/>
                </a:solidFill>
              </a:rPr>
              <a:t>Graphics optimization.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200" b="0" i="0" u="none" strike="noStrike" cap="none" dirty="0">
              <a:solidFill>
                <a:srgbClr val="4B3B8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3B84"/>
                </a:solidFill>
              </a:rPr>
              <a:t>Mobile-specific networking.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4B3B84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3B84"/>
                </a:solidFill>
              </a:rPr>
              <a:t>Cloud infrastructure cost analysis</a:t>
            </a:r>
          </a:p>
        </p:txBody>
      </p:sp>
      <p:sp>
        <p:nvSpPr>
          <p:cNvPr id="299" name="Google Shape;299;p12"/>
          <p:cNvSpPr/>
          <p:nvPr/>
        </p:nvSpPr>
        <p:spPr>
          <a:xfrm rot="1300583">
            <a:off x="6219406" y="-3067004"/>
            <a:ext cx="10242086" cy="10183156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/>
          <p:nvPr/>
        </p:nvSpPr>
        <p:spPr>
          <a:xfrm rot="-1930767">
            <a:off x="-1188684" y="7496216"/>
            <a:ext cx="2687782" cy="768397"/>
          </a:xfrm>
          <a:prstGeom prst="roundRect">
            <a:avLst>
              <a:gd name="adj" fmla="val 50000"/>
            </a:avLst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 rot="-1930767">
            <a:off x="-1615851" y="7477777"/>
            <a:ext cx="1764371" cy="341644"/>
          </a:xfrm>
          <a:prstGeom prst="roundRect">
            <a:avLst>
              <a:gd name="adj" fmla="val 50000"/>
            </a:avLst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706407" y="-975277"/>
            <a:ext cx="567112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Proposed Solution</a:t>
            </a:r>
            <a:endParaRPr lang="en-US" sz="4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11778012" y="6400032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 rot="5724691">
            <a:off x="6260061" y="-6662077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80B64-6898-6E58-5661-57E05F79149F}"/>
              </a:ext>
            </a:extLst>
          </p:cNvPr>
          <p:cNvSpPr txBox="1"/>
          <p:nvPr/>
        </p:nvSpPr>
        <p:spPr>
          <a:xfrm>
            <a:off x="359831" y="1631244"/>
            <a:ext cx="534345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B84"/>
              </a:buClr>
              <a:buSzPts val="1800"/>
            </a:pPr>
            <a:r>
              <a:rPr lang="en-US" sz="2400" b="1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 b="1" i="0" u="none" strike="noStrike" cap="none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n-scope:</a:t>
            </a:r>
            <a:r>
              <a:rPr lang="en-US" sz="2400" b="0" i="0" u="none" strike="noStrike" cap="none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B84"/>
              </a:buClr>
              <a:buSzPts val="1800"/>
            </a:pPr>
            <a:endParaRPr lang="en-US" sz="2400" dirty="0">
              <a:solidFill>
                <a:srgbClr val="E9E5F4"/>
              </a:solidFill>
            </a:endParaRPr>
          </a:p>
          <a:p>
            <a:pPr marL="342900" lvl="0" indent="-34290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9E5F4"/>
                </a:solidFill>
              </a:rPr>
              <a:t>Runtime architecture switching for small to medium multiplayer games.</a:t>
            </a:r>
          </a:p>
          <a:p>
            <a:pPr marL="342900" lvl="0" indent="-34290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9E5F4"/>
                </a:solidFill>
              </a:rPr>
              <a:t>Lag mitigation, client-side prediction.</a:t>
            </a:r>
          </a:p>
          <a:p>
            <a:pPr marL="285750" lvl="0" indent="-28575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E9E5F4"/>
              </a:solidFill>
            </a:endParaRPr>
          </a:p>
          <a:p>
            <a:pPr marL="285750" lvl="0" indent="-28575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9E5F4"/>
                </a:solidFill>
              </a:rPr>
              <a:t>Game state synchronization and preservation.</a:t>
            </a:r>
          </a:p>
          <a:p>
            <a:pPr marL="285750" lvl="0" indent="-28575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E9E5F4"/>
              </a:solidFill>
            </a:endParaRPr>
          </a:p>
          <a:p>
            <a:pPr marL="285750" lvl="0" indent="-28575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9E5F4"/>
                </a:solidFill>
              </a:rPr>
              <a:t>Network health monitoring.</a:t>
            </a:r>
          </a:p>
          <a:p>
            <a:pPr marL="285750" lvl="0" indent="-285750">
              <a:buClr>
                <a:srgbClr val="E9E5F4"/>
              </a:buClr>
              <a:buSzPts val="1800"/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E9E5F4"/>
              </a:solidFill>
            </a:endParaRPr>
          </a:p>
        </p:txBody>
      </p:sp>
      <p:grpSp>
        <p:nvGrpSpPr>
          <p:cNvPr id="4" name="Google Shape;350;p14">
            <a:extLst>
              <a:ext uri="{FF2B5EF4-FFF2-40B4-BE49-F238E27FC236}">
                <a16:creationId xmlns:a16="http://schemas.microsoft.com/office/drawing/2014/main" id="{84CE1FED-3A34-CA18-E00D-CE12CE980679}"/>
              </a:ext>
            </a:extLst>
          </p:cNvPr>
          <p:cNvGrpSpPr/>
          <p:nvPr/>
        </p:nvGrpSpPr>
        <p:grpSpPr>
          <a:xfrm>
            <a:off x="322764" y="7277129"/>
            <a:ext cx="11546470" cy="2328923"/>
            <a:chOff x="11614" y="-258300"/>
            <a:chExt cx="11546470" cy="2220168"/>
          </a:xfrm>
        </p:grpSpPr>
        <p:sp>
          <p:nvSpPr>
            <p:cNvPr id="5" name="Google Shape;351;p14">
              <a:extLst>
                <a:ext uri="{FF2B5EF4-FFF2-40B4-BE49-F238E27FC236}">
                  <a16:creationId xmlns:a16="http://schemas.microsoft.com/office/drawing/2014/main" id="{35F58623-46A8-4873-4763-0DA844B66EB7}"/>
                </a:ext>
              </a:extLst>
            </p:cNvPr>
            <p:cNvSpPr/>
            <p:nvPr/>
          </p:nvSpPr>
          <p:spPr>
            <a:xfrm>
              <a:off x="11614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52;p14">
              <a:extLst>
                <a:ext uri="{FF2B5EF4-FFF2-40B4-BE49-F238E27FC236}">
                  <a16:creationId xmlns:a16="http://schemas.microsoft.com/office/drawing/2014/main" id="{25AA4EDC-32BB-EF88-CBF5-7B24E398DE37}"/>
                </a:ext>
              </a:extLst>
            </p:cNvPr>
            <p:cNvSpPr txBox="1"/>
            <p:nvPr/>
          </p:nvSpPr>
          <p:spPr>
            <a:xfrm>
              <a:off x="11614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rgbClr val="453377"/>
                </a:buClr>
                <a:buSzPts val="2000"/>
              </a:pPr>
              <a:r>
                <a:rPr lang="en-US" sz="2000" b="1" dirty="0">
                  <a:solidFill>
                    <a:srgbClr val="453377"/>
                  </a:solidFill>
                </a:rPr>
                <a:t>Feb - Mar</a:t>
              </a:r>
              <a:endParaRPr lang="en-US" sz="3000" b="1" dirty="0">
                <a:solidFill>
                  <a:srgbClr val="453377"/>
                </a:solidFill>
              </a:endParaRPr>
            </a:p>
          </p:txBody>
        </p:sp>
        <p:sp>
          <p:nvSpPr>
            <p:cNvPr id="7" name="Google Shape;353;p14">
              <a:extLst>
                <a:ext uri="{FF2B5EF4-FFF2-40B4-BE49-F238E27FC236}">
                  <a16:creationId xmlns:a16="http://schemas.microsoft.com/office/drawing/2014/main" id="{5BB679B1-57E1-EDCA-1342-389F33D3DC06}"/>
                </a:ext>
              </a:extLst>
            </p:cNvPr>
            <p:cNvSpPr/>
            <p:nvPr/>
          </p:nvSpPr>
          <p:spPr>
            <a:xfrm>
              <a:off x="173746" y="258301"/>
              <a:ext cx="2180345" cy="170348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54;p14">
              <a:extLst>
                <a:ext uri="{FF2B5EF4-FFF2-40B4-BE49-F238E27FC236}">
                  <a16:creationId xmlns:a16="http://schemas.microsoft.com/office/drawing/2014/main" id="{25F9A649-4E41-BA80-863A-9D60D50787BA}"/>
                </a:ext>
              </a:extLst>
            </p:cNvPr>
            <p:cNvSpPr txBox="1"/>
            <p:nvPr/>
          </p:nvSpPr>
          <p:spPr>
            <a:xfrm>
              <a:off x="237606" y="322161"/>
              <a:ext cx="2052625" cy="1639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Literature review, dataset acquisition, initial prototype setup</a:t>
              </a:r>
              <a:endParaRPr sz="1600" dirty="0"/>
            </a:p>
          </p:txBody>
        </p:sp>
        <p:sp>
          <p:nvSpPr>
            <p:cNvPr id="9" name="Google Shape;355;p14">
              <a:extLst>
                <a:ext uri="{FF2B5EF4-FFF2-40B4-BE49-F238E27FC236}">
                  <a16:creationId xmlns:a16="http://schemas.microsoft.com/office/drawing/2014/main" id="{0BF6F226-BA66-D43B-778E-5C39F8B7DB35}"/>
                </a:ext>
              </a:extLst>
            </p:cNvPr>
            <p:cNvSpPr/>
            <p:nvPr/>
          </p:nvSpPr>
          <p:spPr>
            <a:xfrm>
              <a:off x="2108797" y="-221081"/>
              <a:ext cx="677311" cy="44216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56;p14">
              <a:extLst>
                <a:ext uri="{FF2B5EF4-FFF2-40B4-BE49-F238E27FC236}">
                  <a16:creationId xmlns:a16="http://schemas.microsoft.com/office/drawing/2014/main" id="{53FD0224-2A2B-DF26-1694-80687C98400A}"/>
                </a:ext>
              </a:extLst>
            </p:cNvPr>
            <p:cNvSpPr txBox="1"/>
            <p:nvPr/>
          </p:nvSpPr>
          <p:spPr>
            <a:xfrm>
              <a:off x="2108797" y="-132649"/>
              <a:ext cx="544662" cy="265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endParaRPr sz="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57;p14">
              <a:extLst>
                <a:ext uri="{FF2B5EF4-FFF2-40B4-BE49-F238E27FC236}">
                  <a16:creationId xmlns:a16="http://schemas.microsoft.com/office/drawing/2014/main" id="{40BDC058-96EC-6106-E4E7-AFC214BFF634}"/>
                </a:ext>
              </a:extLst>
            </p:cNvPr>
            <p:cNvSpPr/>
            <p:nvPr/>
          </p:nvSpPr>
          <p:spPr>
            <a:xfrm>
              <a:off x="3067257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58;p14">
              <a:extLst>
                <a:ext uri="{FF2B5EF4-FFF2-40B4-BE49-F238E27FC236}">
                  <a16:creationId xmlns:a16="http://schemas.microsoft.com/office/drawing/2014/main" id="{077E3B19-67E2-E66A-61D3-42FBDA83658A}"/>
                </a:ext>
              </a:extLst>
            </p:cNvPr>
            <p:cNvSpPr txBox="1"/>
            <p:nvPr/>
          </p:nvSpPr>
          <p:spPr>
            <a:xfrm>
              <a:off x="3067257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2000"/>
                <a:buFont typeface="Arial"/>
                <a:buNone/>
              </a:pPr>
              <a:r>
                <a:rPr lang="en-US" sz="20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Apr - May</a:t>
              </a:r>
              <a:endParaRPr sz="3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59;p14">
              <a:extLst>
                <a:ext uri="{FF2B5EF4-FFF2-40B4-BE49-F238E27FC236}">
                  <a16:creationId xmlns:a16="http://schemas.microsoft.com/office/drawing/2014/main" id="{8015203F-B635-0470-AAD3-7B707E9131DB}"/>
                </a:ext>
              </a:extLst>
            </p:cNvPr>
            <p:cNvSpPr/>
            <p:nvPr/>
          </p:nvSpPr>
          <p:spPr>
            <a:xfrm>
              <a:off x="3230758" y="258301"/>
              <a:ext cx="2177607" cy="170348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0;p14">
              <a:extLst>
                <a:ext uri="{FF2B5EF4-FFF2-40B4-BE49-F238E27FC236}">
                  <a16:creationId xmlns:a16="http://schemas.microsoft.com/office/drawing/2014/main" id="{AAB038D9-7FFE-8712-9846-FC4630648C5D}"/>
                </a:ext>
              </a:extLst>
            </p:cNvPr>
            <p:cNvSpPr txBox="1"/>
            <p:nvPr/>
          </p:nvSpPr>
          <p:spPr>
            <a:xfrm>
              <a:off x="3294538" y="322080"/>
              <a:ext cx="2050047" cy="163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Implement architecture switching logic, network metrics monitoring</a:t>
              </a:r>
              <a:endParaRPr sz="1600" dirty="0"/>
            </a:p>
          </p:txBody>
        </p:sp>
        <p:sp>
          <p:nvSpPr>
            <p:cNvPr id="15" name="Google Shape;361;p14">
              <a:extLst>
                <a:ext uri="{FF2B5EF4-FFF2-40B4-BE49-F238E27FC236}">
                  <a16:creationId xmlns:a16="http://schemas.microsoft.com/office/drawing/2014/main" id="{97FC2DD1-C016-9D31-9614-EF011F6C5A0A}"/>
                </a:ext>
              </a:extLst>
            </p:cNvPr>
            <p:cNvSpPr/>
            <p:nvPr/>
          </p:nvSpPr>
          <p:spPr>
            <a:xfrm>
              <a:off x="5164098" y="-221081"/>
              <a:ext cx="676586" cy="44216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2;p14">
              <a:extLst>
                <a:ext uri="{FF2B5EF4-FFF2-40B4-BE49-F238E27FC236}">
                  <a16:creationId xmlns:a16="http://schemas.microsoft.com/office/drawing/2014/main" id="{9A5693EA-1812-46C8-E050-1C72D3D44AA8}"/>
                </a:ext>
              </a:extLst>
            </p:cNvPr>
            <p:cNvSpPr txBox="1"/>
            <p:nvPr/>
          </p:nvSpPr>
          <p:spPr>
            <a:xfrm>
              <a:off x="5164098" y="-132649"/>
              <a:ext cx="543937" cy="265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endParaRPr sz="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63;p14">
              <a:extLst>
                <a:ext uri="{FF2B5EF4-FFF2-40B4-BE49-F238E27FC236}">
                  <a16:creationId xmlns:a16="http://schemas.microsoft.com/office/drawing/2014/main" id="{A9279E5A-0AB5-7DD0-5542-0A395EBB5A07}"/>
                </a:ext>
              </a:extLst>
            </p:cNvPr>
            <p:cNvSpPr/>
            <p:nvPr/>
          </p:nvSpPr>
          <p:spPr>
            <a:xfrm>
              <a:off x="6121531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64;p14">
              <a:extLst>
                <a:ext uri="{FF2B5EF4-FFF2-40B4-BE49-F238E27FC236}">
                  <a16:creationId xmlns:a16="http://schemas.microsoft.com/office/drawing/2014/main" id="{4EC8D968-69F4-2DFA-18C3-31BE4FFE9F87}"/>
                </a:ext>
              </a:extLst>
            </p:cNvPr>
            <p:cNvSpPr txBox="1"/>
            <p:nvPr/>
          </p:nvSpPr>
          <p:spPr>
            <a:xfrm>
              <a:off x="6121531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2000"/>
                <a:buFont typeface="Arial"/>
                <a:buNone/>
              </a:pPr>
              <a:r>
                <a:rPr lang="en-US" sz="20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Se -</a:t>
              </a:r>
              <a:r>
                <a:rPr lang="en-US" sz="2000" b="1" dirty="0">
                  <a:solidFill>
                    <a:srgbClr val="453377"/>
                  </a:solidFill>
                </a:rPr>
                <a:t> Oct</a:t>
              </a:r>
              <a:endParaRPr sz="3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365;p14">
              <a:extLst>
                <a:ext uri="{FF2B5EF4-FFF2-40B4-BE49-F238E27FC236}">
                  <a16:creationId xmlns:a16="http://schemas.microsoft.com/office/drawing/2014/main" id="{7A34BF42-2272-385E-F209-E0D67BB7C8E8}"/>
                </a:ext>
              </a:extLst>
            </p:cNvPr>
            <p:cNvSpPr/>
            <p:nvPr/>
          </p:nvSpPr>
          <p:spPr>
            <a:xfrm>
              <a:off x="6275370" y="258301"/>
              <a:ext cx="2196931" cy="170348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66;p14">
              <a:extLst>
                <a:ext uri="{FF2B5EF4-FFF2-40B4-BE49-F238E27FC236}">
                  <a16:creationId xmlns:a16="http://schemas.microsoft.com/office/drawing/2014/main" id="{5606580C-FF42-F288-BA06-3F6CC050D561}"/>
                </a:ext>
              </a:extLst>
            </p:cNvPr>
            <p:cNvSpPr txBox="1"/>
            <p:nvPr/>
          </p:nvSpPr>
          <p:spPr>
            <a:xfrm>
              <a:off x="6339716" y="322647"/>
              <a:ext cx="2068239" cy="163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Integrate lag mitigation techniques, implement state synchronization, testing</a:t>
              </a:r>
              <a:endParaRPr sz="1600" dirty="0"/>
            </a:p>
          </p:txBody>
        </p:sp>
        <p:sp>
          <p:nvSpPr>
            <p:cNvPr id="21" name="Google Shape;367;p14">
              <a:extLst>
                <a:ext uri="{FF2B5EF4-FFF2-40B4-BE49-F238E27FC236}">
                  <a16:creationId xmlns:a16="http://schemas.microsoft.com/office/drawing/2014/main" id="{B931B6FE-AE79-A6E6-0978-650458976A0C}"/>
                </a:ext>
              </a:extLst>
            </p:cNvPr>
            <p:cNvSpPr/>
            <p:nvPr/>
          </p:nvSpPr>
          <p:spPr>
            <a:xfrm>
              <a:off x="8220788" y="-221081"/>
              <a:ext cx="681706" cy="44216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68;p14">
              <a:extLst>
                <a:ext uri="{FF2B5EF4-FFF2-40B4-BE49-F238E27FC236}">
                  <a16:creationId xmlns:a16="http://schemas.microsoft.com/office/drawing/2014/main" id="{CDC9A537-C685-CA00-1304-9EDFE157F6C1}"/>
                </a:ext>
              </a:extLst>
            </p:cNvPr>
            <p:cNvSpPr txBox="1"/>
            <p:nvPr/>
          </p:nvSpPr>
          <p:spPr>
            <a:xfrm>
              <a:off x="8220788" y="-132649"/>
              <a:ext cx="549057" cy="265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endParaRPr sz="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369;p14">
              <a:extLst>
                <a:ext uri="{FF2B5EF4-FFF2-40B4-BE49-F238E27FC236}">
                  <a16:creationId xmlns:a16="http://schemas.microsoft.com/office/drawing/2014/main" id="{B944B84A-26DC-D5F1-4B5A-4B35DB430A17}"/>
                </a:ext>
              </a:extLst>
            </p:cNvPr>
            <p:cNvSpPr/>
            <p:nvPr/>
          </p:nvSpPr>
          <p:spPr>
            <a:xfrm>
              <a:off x="9185467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0;p14">
              <a:extLst>
                <a:ext uri="{FF2B5EF4-FFF2-40B4-BE49-F238E27FC236}">
                  <a16:creationId xmlns:a16="http://schemas.microsoft.com/office/drawing/2014/main" id="{2A20B238-4DC2-C348-1744-622A0FF622AA}"/>
                </a:ext>
              </a:extLst>
            </p:cNvPr>
            <p:cNvSpPr txBox="1"/>
            <p:nvPr/>
          </p:nvSpPr>
          <p:spPr>
            <a:xfrm>
              <a:off x="9185467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rgbClr val="453377"/>
                </a:buClr>
                <a:buSzPts val="2000"/>
              </a:pPr>
              <a:r>
                <a:rPr lang="en-US" sz="2000" b="1" dirty="0">
                  <a:solidFill>
                    <a:srgbClr val="453377"/>
                  </a:solidFill>
                </a:rPr>
                <a:t>Nov - Dec</a:t>
              </a:r>
              <a:endParaRPr lang="en-US" sz="3000" b="1" dirty="0">
                <a:solidFill>
                  <a:srgbClr val="453377"/>
                </a:solidFill>
              </a:endParaRPr>
            </a:p>
          </p:txBody>
        </p:sp>
        <p:sp>
          <p:nvSpPr>
            <p:cNvPr id="25" name="Google Shape;371;p14">
              <a:extLst>
                <a:ext uri="{FF2B5EF4-FFF2-40B4-BE49-F238E27FC236}">
                  <a16:creationId xmlns:a16="http://schemas.microsoft.com/office/drawing/2014/main" id="{FBF4B34D-FD18-D92A-5CCB-1FB24654E50F}"/>
                </a:ext>
              </a:extLst>
            </p:cNvPr>
            <p:cNvSpPr/>
            <p:nvPr/>
          </p:nvSpPr>
          <p:spPr>
            <a:xfrm>
              <a:off x="9317458" y="258301"/>
              <a:ext cx="2240626" cy="170348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;p14">
              <a:extLst>
                <a:ext uri="{FF2B5EF4-FFF2-40B4-BE49-F238E27FC236}">
                  <a16:creationId xmlns:a16="http://schemas.microsoft.com/office/drawing/2014/main" id="{FDA54BD7-93BE-80D7-A1DD-63269F6F7049}"/>
                </a:ext>
              </a:extLst>
            </p:cNvPr>
            <p:cNvSpPr txBox="1"/>
            <p:nvPr/>
          </p:nvSpPr>
          <p:spPr>
            <a:xfrm>
              <a:off x="9383084" y="323926"/>
              <a:ext cx="2109374" cy="1637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Full prototype evaluation, data analysis, report writing, final presentation</a:t>
              </a:r>
              <a:endParaRPr sz="1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 rot="7762357">
            <a:off x="8399220" y="-1929116"/>
            <a:ext cx="4889758" cy="4861626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 rot="-712814">
            <a:off x="2267099" y="105441"/>
            <a:ext cx="1521270" cy="1500400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0" y="390147"/>
            <a:ext cx="3926516" cy="935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2446510" y="387842"/>
            <a:ext cx="1163466" cy="935596"/>
          </a:xfrm>
          <a:prstGeom prst="rect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76950" y="514398"/>
            <a:ext cx="236955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B3B84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Timeline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49" name="Google Shape;349;p14" descr="A purple clock and lin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5241" y="501697"/>
            <a:ext cx="707886" cy="70788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4"/>
          <p:cNvSpPr/>
          <p:nvPr/>
        </p:nvSpPr>
        <p:spPr>
          <a:xfrm rot="3795066">
            <a:off x="2549524" y="-5208729"/>
            <a:ext cx="4889758" cy="4861626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40312" y="6400032"/>
            <a:ext cx="46841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dirty="0"/>
          </a:p>
        </p:txBody>
      </p:sp>
      <p:sp>
        <p:nvSpPr>
          <p:cNvPr id="385" name="Google Shape;385;p14"/>
          <p:cNvSpPr txBox="1"/>
          <p:nvPr/>
        </p:nvSpPr>
        <p:spPr>
          <a:xfrm rot="-5400000">
            <a:off x="3300447" y="686383"/>
            <a:ext cx="93559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C3984"/>
                </a:solidFill>
                <a:latin typeface="Arial"/>
                <a:ea typeface="Arial"/>
                <a:cs typeface="Arial"/>
                <a:sym typeface="Arial"/>
              </a:rPr>
              <a:t>2025-26</a:t>
            </a:r>
            <a:endParaRPr sz="1200" dirty="0"/>
          </a:p>
        </p:txBody>
      </p:sp>
      <p:grpSp>
        <p:nvGrpSpPr>
          <p:cNvPr id="12" name="Google Shape;350;p14">
            <a:extLst>
              <a:ext uri="{FF2B5EF4-FFF2-40B4-BE49-F238E27FC236}">
                <a16:creationId xmlns:a16="http://schemas.microsoft.com/office/drawing/2014/main" id="{55BF274C-FCA4-8BC1-9F31-43D3CB35B74E}"/>
              </a:ext>
            </a:extLst>
          </p:cNvPr>
          <p:cNvGrpSpPr/>
          <p:nvPr/>
        </p:nvGrpSpPr>
        <p:grpSpPr>
          <a:xfrm>
            <a:off x="322901" y="2230637"/>
            <a:ext cx="11546470" cy="2382468"/>
            <a:chOff x="11614" y="-258300"/>
            <a:chExt cx="11546470" cy="2271213"/>
          </a:xfrm>
        </p:grpSpPr>
        <p:sp>
          <p:nvSpPr>
            <p:cNvPr id="13" name="Google Shape;351;p14">
              <a:extLst>
                <a:ext uri="{FF2B5EF4-FFF2-40B4-BE49-F238E27FC236}">
                  <a16:creationId xmlns:a16="http://schemas.microsoft.com/office/drawing/2014/main" id="{9591CDBF-2BDA-9BED-009D-6380192DB13F}"/>
                </a:ext>
              </a:extLst>
            </p:cNvPr>
            <p:cNvSpPr/>
            <p:nvPr/>
          </p:nvSpPr>
          <p:spPr>
            <a:xfrm>
              <a:off x="11614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52;p14">
              <a:extLst>
                <a:ext uri="{FF2B5EF4-FFF2-40B4-BE49-F238E27FC236}">
                  <a16:creationId xmlns:a16="http://schemas.microsoft.com/office/drawing/2014/main" id="{88B0EFDE-173B-8594-E98E-249D37D86E56}"/>
                </a:ext>
              </a:extLst>
            </p:cNvPr>
            <p:cNvSpPr txBox="1"/>
            <p:nvPr/>
          </p:nvSpPr>
          <p:spPr>
            <a:xfrm>
              <a:off x="11614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rgbClr val="453377"/>
                </a:buClr>
                <a:buSzPts val="2000"/>
              </a:pPr>
              <a:r>
                <a:rPr lang="en-US" sz="2000" b="1" dirty="0">
                  <a:solidFill>
                    <a:srgbClr val="453377"/>
                  </a:solidFill>
                </a:rPr>
                <a:t>Feb - Mar</a:t>
              </a:r>
              <a:endParaRPr lang="en-US" sz="3000" b="1" dirty="0">
                <a:solidFill>
                  <a:srgbClr val="453377"/>
                </a:solidFill>
              </a:endParaRPr>
            </a:p>
          </p:txBody>
        </p:sp>
        <p:sp>
          <p:nvSpPr>
            <p:cNvPr id="15" name="Google Shape;353;p14">
              <a:extLst>
                <a:ext uri="{FF2B5EF4-FFF2-40B4-BE49-F238E27FC236}">
                  <a16:creationId xmlns:a16="http://schemas.microsoft.com/office/drawing/2014/main" id="{CB3635C7-61A3-7DDB-49E4-10E96777A3E3}"/>
                </a:ext>
              </a:extLst>
            </p:cNvPr>
            <p:cNvSpPr/>
            <p:nvPr/>
          </p:nvSpPr>
          <p:spPr>
            <a:xfrm>
              <a:off x="173746" y="258301"/>
              <a:ext cx="2180345" cy="175461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54;p14">
              <a:extLst>
                <a:ext uri="{FF2B5EF4-FFF2-40B4-BE49-F238E27FC236}">
                  <a16:creationId xmlns:a16="http://schemas.microsoft.com/office/drawing/2014/main" id="{73EA626B-0A71-3B56-07B6-3943EC415D21}"/>
                </a:ext>
              </a:extLst>
            </p:cNvPr>
            <p:cNvSpPr txBox="1"/>
            <p:nvPr/>
          </p:nvSpPr>
          <p:spPr>
            <a:xfrm>
              <a:off x="237606" y="322161"/>
              <a:ext cx="2052625" cy="1639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Literature review, dataset acquisition, initial prototype setup</a:t>
              </a:r>
              <a:endParaRPr sz="1600" dirty="0"/>
            </a:p>
          </p:txBody>
        </p:sp>
        <p:sp>
          <p:nvSpPr>
            <p:cNvPr id="17" name="Google Shape;355;p14">
              <a:extLst>
                <a:ext uri="{FF2B5EF4-FFF2-40B4-BE49-F238E27FC236}">
                  <a16:creationId xmlns:a16="http://schemas.microsoft.com/office/drawing/2014/main" id="{CA61439E-B53E-06F4-F7AF-8CBCF139C6AD}"/>
                </a:ext>
              </a:extLst>
            </p:cNvPr>
            <p:cNvSpPr/>
            <p:nvPr/>
          </p:nvSpPr>
          <p:spPr>
            <a:xfrm>
              <a:off x="2108797" y="-221081"/>
              <a:ext cx="677311" cy="44216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56;p14">
              <a:extLst>
                <a:ext uri="{FF2B5EF4-FFF2-40B4-BE49-F238E27FC236}">
                  <a16:creationId xmlns:a16="http://schemas.microsoft.com/office/drawing/2014/main" id="{CEC126AA-C311-0427-55E8-AC4941A533D5}"/>
                </a:ext>
              </a:extLst>
            </p:cNvPr>
            <p:cNvSpPr txBox="1"/>
            <p:nvPr/>
          </p:nvSpPr>
          <p:spPr>
            <a:xfrm>
              <a:off x="2108797" y="-132649"/>
              <a:ext cx="544662" cy="265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endParaRPr sz="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357;p14">
              <a:extLst>
                <a:ext uri="{FF2B5EF4-FFF2-40B4-BE49-F238E27FC236}">
                  <a16:creationId xmlns:a16="http://schemas.microsoft.com/office/drawing/2014/main" id="{97D70634-4F12-42A5-E645-022FCD7F5A60}"/>
                </a:ext>
              </a:extLst>
            </p:cNvPr>
            <p:cNvSpPr/>
            <p:nvPr/>
          </p:nvSpPr>
          <p:spPr>
            <a:xfrm>
              <a:off x="3067257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58;p14">
              <a:extLst>
                <a:ext uri="{FF2B5EF4-FFF2-40B4-BE49-F238E27FC236}">
                  <a16:creationId xmlns:a16="http://schemas.microsoft.com/office/drawing/2014/main" id="{6283460B-7EAF-5A96-4B4C-216DADF7E857}"/>
                </a:ext>
              </a:extLst>
            </p:cNvPr>
            <p:cNvSpPr txBox="1"/>
            <p:nvPr/>
          </p:nvSpPr>
          <p:spPr>
            <a:xfrm>
              <a:off x="3067257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2000"/>
                <a:buFont typeface="Arial"/>
                <a:buNone/>
              </a:pPr>
              <a:r>
                <a:rPr lang="en-US" sz="20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Apr - May</a:t>
              </a:r>
              <a:endParaRPr sz="3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359;p14">
              <a:extLst>
                <a:ext uri="{FF2B5EF4-FFF2-40B4-BE49-F238E27FC236}">
                  <a16:creationId xmlns:a16="http://schemas.microsoft.com/office/drawing/2014/main" id="{3BF4FC4B-95FA-A4E6-8D7F-50E2046AC7A0}"/>
                </a:ext>
              </a:extLst>
            </p:cNvPr>
            <p:cNvSpPr/>
            <p:nvPr/>
          </p:nvSpPr>
          <p:spPr>
            <a:xfrm>
              <a:off x="3230758" y="258301"/>
              <a:ext cx="2177607" cy="175461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60;p14">
              <a:extLst>
                <a:ext uri="{FF2B5EF4-FFF2-40B4-BE49-F238E27FC236}">
                  <a16:creationId xmlns:a16="http://schemas.microsoft.com/office/drawing/2014/main" id="{A57DFEE2-30DC-D6C1-38CC-B396781E4259}"/>
                </a:ext>
              </a:extLst>
            </p:cNvPr>
            <p:cNvSpPr txBox="1"/>
            <p:nvPr/>
          </p:nvSpPr>
          <p:spPr>
            <a:xfrm>
              <a:off x="3294538" y="322080"/>
              <a:ext cx="2050047" cy="163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Implement architecture switching logic, network metrics monitoring</a:t>
              </a:r>
              <a:endParaRPr sz="1600" dirty="0"/>
            </a:p>
          </p:txBody>
        </p:sp>
        <p:sp>
          <p:nvSpPr>
            <p:cNvPr id="23" name="Google Shape;361;p14">
              <a:extLst>
                <a:ext uri="{FF2B5EF4-FFF2-40B4-BE49-F238E27FC236}">
                  <a16:creationId xmlns:a16="http://schemas.microsoft.com/office/drawing/2014/main" id="{A41DBF10-C2F5-7F2A-C916-BAD1CEFF735D}"/>
                </a:ext>
              </a:extLst>
            </p:cNvPr>
            <p:cNvSpPr/>
            <p:nvPr/>
          </p:nvSpPr>
          <p:spPr>
            <a:xfrm>
              <a:off x="5164098" y="-221081"/>
              <a:ext cx="676586" cy="44216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62;p14">
              <a:extLst>
                <a:ext uri="{FF2B5EF4-FFF2-40B4-BE49-F238E27FC236}">
                  <a16:creationId xmlns:a16="http://schemas.microsoft.com/office/drawing/2014/main" id="{26110E0E-1B16-AA6E-E240-EE6EBEFA4D1A}"/>
                </a:ext>
              </a:extLst>
            </p:cNvPr>
            <p:cNvSpPr txBox="1"/>
            <p:nvPr/>
          </p:nvSpPr>
          <p:spPr>
            <a:xfrm>
              <a:off x="5164098" y="-132649"/>
              <a:ext cx="543937" cy="265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endParaRPr sz="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363;p14">
              <a:extLst>
                <a:ext uri="{FF2B5EF4-FFF2-40B4-BE49-F238E27FC236}">
                  <a16:creationId xmlns:a16="http://schemas.microsoft.com/office/drawing/2014/main" id="{D7194846-6B9C-9DF4-4E42-3C03DE5865FD}"/>
                </a:ext>
              </a:extLst>
            </p:cNvPr>
            <p:cNvSpPr/>
            <p:nvPr/>
          </p:nvSpPr>
          <p:spPr>
            <a:xfrm>
              <a:off x="6121531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64;p14">
              <a:extLst>
                <a:ext uri="{FF2B5EF4-FFF2-40B4-BE49-F238E27FC236}">
                  <a16:creationId xmlns:a16="http://schemas.microsoft.com/office/drawing/2014/main" id="{9541A3E8-6AA7-4A5B-859B-DED320959083}"/>
                </a:ext>
              </a:extLst>
            </p:cNvPr>
            <p:cNvSpPr txBox="1"/>
            <p:nvPr/>
          </p:nvSpPr>
          <p:spPr>
            <a:xfrm>
              <a:off x="6121531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2000"/>
                <a:buFont typeface="Arial"/>
                <a:buNone/>
              </a:pPr>
              <a:r>
                <a:rPr lang="en-US" sz="20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Sep -</a:t>
              </a:r>
              <a:r>
                <a:rPr lang="en-US" sz="2000" b="1" dirty="0">
                  <a:solidFill>
                    <a:srgbClr val="453377"/>
                  </a:solidFill>
                </a:rPr>
                <a:t> Oct</a:t>
              </a:r>
              <a:endParaRPr sz="3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365;p14">
              <a:extLst>
                <a:ext uri="{FF2B5EF4-FFF2-40B4-BE49-F238E27FC236}">
                  <a16:creationId xmlns:a16="http://schemas.microsoft.com/office/drawing/2014/main" id="{5CCF82C1-8D69-8B18-CFA0-7B0CF6C087E6}"/>
                </a:ext>
              </a:extLst>
            </p:cNvPr>
            <p:cNvSpPr/>
            <p:nvPr/>
          </p:nvSpPr>
          <p:spPr>
            <a:xfrm>
              <a:off x="6275370" y="258301"/>
              <a:ext cx="2196931" cy="175461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66;p14">
              <a:extLst>
                <a:ext uri="{FF2B5EF4-FFF2-40B4-BE49-F238E27FC236}">
                  <a16:creationId xmlns:a16="http://schemas.microsoft.com/office/drawing/2014/main" id="{30401602-BF9E-9A61-6638-461F7F721968}"/>
                </a:ext>
              </a:extLst>
            </p:cNvPr>
            <p:cNvSpPr txBox="1"/>
            <p:nvPr/>
          </p:nvSpPr>
          <p:spPr>
            <a:xfrm>
              <a:off x="6339716" y="322647"/>
              <a:ext cx="2068239" cy="163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Integrate lag mitigation techniques, implement state synchronization, testing</a:t>
              </a:r>
              <a:endParaRPr sz="1600" dirty="0"/>
            </a:p>
          </p:txBody>
        </p:sp>
        <p:sp>
          <p:nvSpPr>
            <p:cNvPr id="29" name="Google Shape;367;p14">
              <a:extLst>
                <a:ext uri="{FF2B5EF4-FFF2-40B4-BE49-F238E27FC236}">
                  <a16:creationId xmlns:a16="http://schemas.microsoft.com/office/drawing/2014/main" id="{1D16A6C9-3D2F-2C66-2494-C5E0F0E94FC9}"/>
                </a:ext>
              </a:extLst>
            </p:cNvPr>
            <p:cNvSpPr/>
            <p:nvPr/>
          </p:nvSpPr>
          <p:spPr>
            <a:xfrm>
              <a:off x="8220788" y="-221081"/>
              <a:ext cx="681706" cy="44216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8;p14">
              <a:extLst>
                <a:ext uri="{FF2B5EF4-FFF2-40B4-BE49-F238E27FC236}">
                  <a16:creationId xmlns:a16="http://schemas.microsoft.com/office/drawing/2014/main" id="{33ECE769-E6EE-EC67-BD82-AB031C5F4817}"/>
                </a:ext>
              </a:extLst>
            </p:cNvPr>
            <p:cNvSpPr txBox="1"/>
            <p:nvPr/>
          </p:nvSpPr>
          <p:spPr>
            <a:xfrm>
              <a:off x="8220788" y="-132649"/>
              <a:ext cx="549057" cy="265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endParaRPr sz="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69;p14">
              <a:extLst>
                <a:ext uri="{FF2B5EF4-FFF2-40B4-BE49-F238E27FC236}">
                  <a16:creationId xmlns:a16="http://schemas.microsoft.com/office/drawing/2014/main" id="{3F6C8BBF-78C4-C6BB-1617-A840CBAC8E47}"/>
                </a:ext>
              </a:extLst>
            </p:cNvPr>
            <p:cNvSpPr/>
            <p:nvPr/>
          </p:nvSpPr>
          <p:spPr>
            <a:xfrm>
              <a:off x="9185467" y="-258300"/>
              <a:ext cx="1777696" cy="77490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0;p14">
              <a:extLst>
                <a:ext uri="{FF2B5EF4-FFF2-40B4-BE49-F238E27FC236}">
                  <a16:creationId xmlns:a16="http://schemas.microsoft.com/office/drawing/2014/main" id="{B83B34C8-39CB-8671-DBF0-CB528C70B3E6}"/>
                </a:ext>
              </a:extLst>
            </p:cNvPr>
            <p:cNvSpPr txBox="1"/>
            <p:nvPr/>
          </p:nvSpPr>
          <p:spPr>
            <a:xfrm>
              <a:off x="9185467" y="-258300"/>
              <a:ext cx="1777696" cy="51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142225" rIns="142225" bIns="7620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rgbClr val="453377"/>
                </a:buClr>
                <a:buSzPts val="2000"/>
              </a:pPr>
              <a:r>
                <a:rPr lang="en-US" sz="2000" b="1" dirty="0">
                  <a:solidFill>
                    <a:srgbClr val="453377"/>
                  </a:solidFill>
                </a:rPr>
                <a:t>Nov - Dec</a:t>
              </a:r>
              <a:endParaRPr lang="en-US" sz="3000" b="1" dirty="0">
                <a:solidFill>
                  <a:srgbClr val="453377"/>
                </a:solidFill>
              </a:endParaRPr>
            </a:p>
          </p:txBody>
        </p:sp>
        <p:sp>
          <p:nvSpPr>
            <p:cNvPr id="33" name="Google Shape;371;p14">
              <a:extLst>
                <a:ext uri="{FF2B5EF4-FFF2-40B4-BE49-F238E27FC236}">
                  <a16:creationId xmlns:a16="http://schemas.microsoft.com/office/drawing/2014/main" id="{EA504C51-EB9D-AAA1-0CA6-98492381800A}"/>
                </a:ext>
              </a:extLst>
            </p:cNvPr>
            <p:cNvSpPr/>
            <p:nvPr/>
          </p:nvSpPr>
          <p:spPr>
            <a:xfrm>
              <a:off x="9317458" y="258301"/>
              <a:ext cx="2240626" cy="1754612"/>
            </a:xfrm>
            <a:prstGeom prst="roundRect">
              <a:avLst>
                <a:gd name="adj" fmla="val 10000"/>
              </a:avLst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2;p14">
              <a:extLst>
                <a:ext uri="{FF2B5EF4-FFF2-40B4-BE49-F238E27FC236}">
                  <a16:creationId xmlns:a16="http://schemas.microsoft.com/office/drawing/2014/main" id="{8116A4DD-A072-9F89-6D2B-202BBB8E038B}"/>
                </a:ext>
              </a:extLst>
            </p:cNvPr>
            <p:cNvSpPr txBox="1"/>
            <p:nvPr/>
          </p:nvSpPr>
          <p:spPr>
            <a:xfrm>
              <a:off x="9383084" y="323926"/>
              <a:ext cx="2109374" cy="1637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113775" rIns="113775" bIns="113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600"/>
              </a:pPr>
              <a:r>
                <a:rPr lang="en-US" sz="1800" dirty="0">
                  <a:solidFill>
                    <a:schemeClr val="dk1"/>
                  </a:solidFill>
                </a:rPr>
                <a:t>Full prototype evaluation, data analysis, report writing, final presentation</a:t>
              </a:r>
              <a:endParaRPr sz="1600" dirty="0"/>
            </a:p>
          </p:txBody>
        </p:sp>
      </p:grpSp>
      <p:sp>
        <p:nvSpPr>
          <p:cNvPr id="39" name="Google Shape;309;p13">
            <a:extLst>
              <a:ext uri="{FF2B5EF4-FFF2-40B4-BE49-F238E27FC236}">
                <a16:creationId xmlns:a16="http://schemas.microsoft.com/office/drawing/2014/main" id="{ADF9FADC-63BC-BA87-1AA1-A63EEDE254A1}"/>
              </a:ext>
            </a:extLst>
          </p:cNvPr>
          <p:cNvSpPr/>
          <p:nvPr/>
        </p:nvSpPr>
        <p:spPr>
          <a:xfrm rot="16200000">
            <a:off x="10263099" y="5204017"/>
            <a:ext cx="5837518" cy="6097484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44;p14">
            <a:extLst>
              <a:ext uri="{FF2B5EF4-FFF2-40B4-BE49-F238E27FC236}">
                <a16:creationId xmlns:a16="http://schemas.microsoft.com/office/drawing/2014/main" id="{BA101FF6-5A34-9715-71EA-D2E243204268}"/>
              </a:ext>
            </a:extLst>
          </p:cNvPr>
          <p:cNvSpPr/>
          <p:nvPr/>
        </p:nvSpPr>
        <p:spPr>
          <a:xfrm rot="18892126">
            <a:off x="-2864747" y="5507134"/>
            <a:ext cx="4889758" cy="4861626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309;p13">
            <a:extLst>
              <a:ext uri="{FF2B5EF4-FFF2-40B4-BE49-F238E27FC236}">
                <a16:creationId xmlns:a16="http://schemas.microsoft.com/office/drawing/2014/main" id="{89207729-3816-70CD-06DF-D8E06CA86E37}"/>
              </a:ext>
            </a:extLst>
          </p:cNvPr>
          <p:cNvSpPr/>
          <p:nvPr/>
        </p:nvSpPr>
        <p:spPr>
          <a:xfrm rot="16200000">
            <a:off x="6268033" y="771160"/>
            <a:ext cx="6141700" cy="14822659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"/>
          <p:cNvSpPr/>
          <p:nvPr/>
        </p:nvSpPr>
        <p:spPr>
          <a:xfrm rot="5192133">
            <a:off x="5232421" y="-2537196"/>
            <a:ext cx="4889758" cy="4861626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 rot="-7158582">
            <a:off x="8684970" y="3704879"/>
            <a:ext cx="4889758" cy="4861626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 rot="-712814">
            <a:off x="3099724" y="107744"/>
            <a:ext cx="1521270" cy="1500400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0" y="390147"/>
            <a:ext cx="3926516" cy="935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76950" y="514398"/>
            <a:ext cx="378340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B3B84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Work Division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96" name="Google Shape;396;p15"/>
          <p:cNvGrpSpPr/>
          <p:nvPr/>
        </p:nvGrpSpPr>
        <p:grpSpPr>
          <a:xfrm>
            <a:off x="635156" y="2084260"/>
            <a:ext cx="10976332" cy="3202115"/>
            <a:chOff x="57306" y="0"/>
            <a:chExt cx="10976332" cy="3202115"/>
          </a:xfrm>
        </p:grpSpPr>
        <p:sp>
          <p:nvSpPr>
            <p:cNvPr id="397" name="Google Shape;397;p15"/>
            <p:cNvSpPr/>
            <p:nvPr/>
          </p:nvSpPr>
          <p:spPr>
            <a:xfrm>
              <a:off x="57306" y="0"/>
              <a:ext cx="2610882" cy="3202115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 txBox="1"/>
            <p:nvPr/>
          </p:nvSpPr>
          <p:spPr>
            <a:xfrm>
              <a:off x="57306" y="0"/>
              <a:ext cx="2610882" cy="1216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3600"/>
                <a:buFont typeface="Arial"/>
                <a:buNone/>
              </a:pPr>
              <a:r>
                <a:rPr lang="en-US" sz="36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Saim</a:t>
              </a:r>
              <a:endParaRPr dirty="0"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95016" y="844399"/>
              <a:ext cx="2088705" cy="53728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 txBox="1"/>
            <p:nvPr/>
          </p:nvSpPr>
          <p:spPr>
            <a:xfrm>
              <a:off x="310753" y="860136"/>
              <a:ext cx="2057231" cy="505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Prototype implementation</a:t>
              </a:r>
              <a:endParaRPr dirty="0"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95016" y="1521573"/>
              <a:ext cx="2088705" cy="76815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 txBox="1"/>
            <p:nvPr/>
          </p:nvSpPr>
          <p:spPr>
            <a:xfrm>
              <a:off x="317515" y="1544072"/>
              <a:ext cx="2043707" cy="72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network metrics monitoring</a:t>
              </a:r>
              <a:endParaRPr dirty="0"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295016" y="2414938"/>
              <a:ext cx="2088705" cy="30444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 txBox="1"/>
            <p:nvPr/>
          </p:nvSpPr>
          <p:spPr>
            <a:xfrm>
              <a:off x="303933" y="2423855"/>
              <a:ext cx="2070871" cy="286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client-side prediction</a:t>
              </a:r>
              <a:endParaRPr dirty="0"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2809359" y="0"/>
              <a:ext cx="2610882" cy="3202115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 txBox="1"/>
            <p:nvPr/>
          </p:nvSpPr>
          <p:spPr>
            <a:xfrm>
              <a:off x="2809359" y="0"/>
              <a:ext cx="2610882" cy="1216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3600"/>
                <a:buFont typeface="Arial"/>
                <a:buNone/>
              </a:pPr>
              <a:r>
                <a:rPr lang="en-US" sz="36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Hamza</a:t>
              </a:r>
              <a:endParaRPr dirty="0"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3059105" y="861982"/>
              <a:ext cx="2088705" cy="471503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 txBox="1"/>
            <p:nvPr/>
          </p:nvSpPr>
          <p:spPr>
            <a:xfrm>
              <a:off x="3072915" y="875792"/>
              <a:ext cx="2061085" cy="443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State synchronization (CRDTs)</a:t>
              </a:r>
              <a:endParaRPr dirty="0"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3060703" y="1471925"/>
              <a:ext cx="2069301" cy="51930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 txBox="1"/>
            <p:nvPr/>
          </p:nvSpPr>
          <p:spPr>
            <a:xfrm>
              <a:off x="3089378" y="1500599"/>
              <a:ext cx="2011951" cy="490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host migration</a:t>
              </a:r>
              <a:endParaRPr dirty="0"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3057022" y="2157515"/>
              <a:ext cx="2088705" cy="63514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 txBox="1"/>
            <p:nvPr/>
          </p:nvSpPr>
          <p:spPr>
            <a:xfrm>
              <a:off x="3075625" y="2176118"/>
              <a:ext cx="2051499" cy="59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hybrid architecture logic</a:t>
              </a:r>
              <a:endParaRPr dirty="0"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5594305" y="0"/>
              <a:ext cx="2610882" cy="3202115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5"/>
            <p:cNvSpPr txBox="1"/>
            <p:nvPr/>
          </p:nvSpPr>
          <p:spPr>
            <a:xfrm>
              <a:off x="5616058" y="0"/>
              <a:ext cx="2610882" cy="1216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3600"/>
                <a:buFont typeface="Arial"/>
                <a:buNone/>
              </a:pPr>
              <a:r>
                <a:rPr lang="en-US" sz="3600" b="1" dirty="0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Ahmed</a:t>
              </a:r>
              <a:endParaRPr dirty="0"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5867412" y="846303"/>
              <a:ext cx="2088705" cy="420735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5"/>
            <p:cNvSpPr txBox="1"/>
            <p:nvPr/>
          </p:nvSpPr>
          <p:spPr>
            <a:xfrm>
              <a:off x="5884709" y="863600"/>
              <a:ext cx="2054111" cy="396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Testing</a:t>
              </a:r>
              <a:endParaRPr dirty="0"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5859080" y="1416735"/>
              <a:ext cx="2088705" cy="420735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5"/>
            <p:cNvSpPr txBox="1"/>
            <p:nvPr/>
          </p:nvSpPr>
          <p:spPr>
            <a:xfrm>
              <a:off x="5876377" y="1434032"/>
              <a:ext cx="2054111" cy="396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Evaluation Metrics</a:t>
              </a:r>
              <a:endParaRPr dirty="0"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5855975" y="1981467"/>
              <a:ext cx="2121268" cy="57152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5"/>
            <p:cNvSpPr txBox="1"/>
            <p:nvPr/>
          </p:nvSpPr>
          <p:spPr>
            <a:xfrm>
              <a:off x="5873272" y="1998765"/>
              <a:ext cx="2086674" cy="5380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Documentation, Graphs, Reports</a:t>
              </a:r>
              <a:endParaRPr dirty="0"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8422756" y="0"/>
              <a:ext cx="2610882" cy="3202115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5"/>
            <p:cNvSpPr txBox="1"/>
            <p:nvPr/>
          </p:nvSpPr>
          <p:spPr>
            <a:xfrm>
              <a:off x="8422756" y="0"/>
              <a:ext cx="2610882" cy="1216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53377"/>
                </a:buClr>
                <a:buSzPts val="3600"/>
                <a:buFont typeface="Arial"/>
                <a:buNone/>
              </a:pPr>
              <a:r>
                <a:rPr lang="en-US" sz="3600" b="1">
                  <a:solidFill>
                    <a:srgbClr val="453377"/>
                  </a:solidFill>
                  <a:latin typeface="Arial"/>
                  <a:ea typeface="Arial"/>
                  <a:cs typeface="Arial"/>
                  <a:sym typeface="Arial"/>
                </a:rPr>
                <a:t>Group</a:t>
              </a: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8693557" y="846304"/>
              <a:ext cx="2088705" cy="48776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5"/>
            <p:cNvSpPr txBox="1"/>
            <p:nvPr/>
          </p:nvSpPr>
          <p:spPr>
            <a:xfrm>
              <a:off x="8710854" y="863601"/>
              <a:ext cx="2054111" cy="4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Literature Review</a:t>
              </a:r>
              <a:endParaRPr dirty="0"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8693557" y="1477528"/>
              <a:ext cx="2101071" cy="48776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5"/>
            <p:cNvSpPr txBox="1"/>
            <p:nvPr/>
          </p:nvSpPr>
          <p:spPr>
            <a:xfrm>
              <a:off x="8710854" y="1494825"/>
              <a:ext cx="2066477" cy="4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Dataset Preprocessing</a:t>
              </a:r>
              <a:endParaRPr dirty="0"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8693557" y="2115072"/>
              <a:ext cx="2101488" cy="48776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5"/>
            <p:cNvSpPr txBox="1"/>
            <p:nvPr/>
          </p:nvSpPr>
          <p:spPr>
            <a:xfrm>
              <a:off x="8710854" y="2132369"/>
              <a:ext cx="2066894" cy="4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26650" rIns="35550" bIns="2665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</a:rPr>
                <a:t>Final Presentation Preparation</a:t>
              </a:r>
              <a:endParaRPr dirty="0"/>
            </a:p>
          </p:txBody>
        </p:sp>
      </p:grpSp>
      <p:sp>
        <p:nvSpPr>
          <p:cNvPr id="437" name="Google Shape;437;p15"/>
          <p:cNvSpPr/>
          <p:nvPr/>
        </p:nvSpPr>
        <p:spPr>
          <a:xfrm>
            <a:off x="3790949" y="390146"/>
            <a:ext cx="146357" cy="935596"/>
          </a:xfrm>
          <a:prstGeom prst="rect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 txBox="1"/>
          <p:nvPr/>
        </p:nvSpPr>
        <p:spPr>
          <a:xfrm>
            <a:off x="11611488" y="6400032"/>
            <a:ext cx="49724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5337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dirty="0"/>
          </a:p>
        </p:txBody>
      </p:sp>
      <p:sp>
        <p:nvSpPr>
          <p:cNvPr id="439" name="Google Shape;439;p15"/>
          <p:cNvSpPr/>
          <p:nvPr/>
        </p:nvSpPr>
        <p:spPr>
          <a:xfrm>
            <a:off x="788667" y="3518292"/>
            <a:ext cx="173736" cy="173736"/>
          </a:xfrm>
          <a:prstGeom prst="flowChartConnector">
            <a:avLst/>
          </a:prstGeom>
          <a:solidFill>
            <a:srgbClr val="E59DDC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788667" y="2842409"/>
            <a:ext cx="173736" cy="173736"/>
          </a:xfrm>
          <a:prstGeom prst="flowChartConnector">
            <a:avLst/>
          </a:prstGeom>
          <a:solidFill>
            <a:srgbClr val="A3C5ED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788667" y="4419824"/>
            <a:ext cx="173736" cy="173736"/>
          </a:xfrm>
          <a:prstGeom prst="flowChartConnector">
            <a:avLst/>
          </a:prstGeom>
          <a:solidFill>
            <a:srgbClr val="FFFF00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3552919" y="2859323"/>
            <a:ext cx="173736" cy="173736"/>
          </a:xfrm>
          <a:prstGeom prst="flowChartConnector">
            <a:avLst/>
          </a:prstGeom>
          <a:solidFill>
            <a:srgbClr val="A3C5ED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3552919" y="3471012"/>
            <a:ext cx="173736" cy="173736"/>
          </a:xfrm>
          <a:prstGeom prst="flowChartConnector">
            <a:avLst/>
          </a:prstGeom>
          <a:solidFill>
            <a:srgbClr val="E59DDC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3552919" y="4160664"/>
            <a:ext cx="173736" cy="173736"/>
          </a:xfrm>
          <a:prstGeom prst="flowChartConnector">
            <a:avLst/>
          </a:prstGeom>
          <a:solidFill>
            <a:srgbClr val="FFFF00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6360676" y="2844649"/>
            <a:ext cx="173736" cy="173736"/>
          </a:xfrm>
          <a:prstGeom prst="flowChartConnector">
            <a:avLst/>
          </a:prstGeom>
          <a:solidFill>
            <a:srgbClr val="A3C5ED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6360676" y="3417156"/>
            <a:ext cx="173736" cy="173736"/>
          </a:xfrm>
          <a:prstGeom prst="flowChartConnector">
            <a:avLst/>
          </a:prstGeom>
          <a:solidFill>
            <a:srgbClr val="E59DDC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6364254" y="3991914"/>
            <a:ext cx="173736" cy="173736"/>
          </a:xfrm>
          <a:prstGeom prst="flowChartConnector">
            <a:avLst/>
          </a:prstGeom>
          <a:solidFill>
            <a:srgbClr val="FFFF00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9188091" y="2844776"/>
            <a:ext cx="173736" cy="173736"/>
          </a:xfrm>
          <a:prstGeom prst="flowChartConnector">
            <a:avLst/>
          </a:prstGeom>
          <a:solidFill>
            <a:srgbClr val="4C3984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9188091" y="3502279"/>
            <a:ext cx="173736" cy="173736"/>
          </a:xfrm>
          <a:prstGeom prst="flowChartConnector">
            <a:avLst/>
          </a:prstGeom>
          <a:solidFill>
            <a:srgbClr val="4C3984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9201836" y="4136625"/>
            <a:ext cx="173736" cy="173736"/>
          </a:xfrm>
          <a:prstGeom prst="flowChartConnector">
            <a:avLst/>
          </a:prstGeom>
          <a:solidFill>
            <a:srgbClr val="4C3984"/>
          </a:solidFill>
          <a:ln w="19050" cap="flat" cmpd="sng">
            <a:solidFill>
              <a:srgbClr val="EF81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09;p13">
            <a:extLst>
              <a:ext uri="{FF2B5EF4-FFF2-40B4-BE49-F238E27FC236}">
                <a16:creationId xmlns:a16="http://schemas.microsoft.com/office/drawing/2014/main" id="{BF647291-9CF4-AA58-22CB-B284FD5260E0}"/>
              </a:ext>
            </a:extLst>
          </p:cNvPr>
          <p:cNvSpPr/>
          <p:nvPr/>
        </p:nvSpPr>
        <p:spPr>
          <a:xfrm rot="16200000">
            <a:off x="6605006" y="-3177130"/>
            <a:ext cx="6141700" cy="23967995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"/>
          <p:cNvSpPr/>
          <p:nvPr/>
        </p:nvSpPr>
        <p:spPr>
          <a:xfrm rot="-862172">
            <a:off x="5138551" y="263580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6"/>
          <p:cNvSpPr/>
          <p:nvPr/>
        </p:nvSpPr>
        <p:spPr>
          <a:xfrm rot="9925452">
            <a:off x="4840789" y="271830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"/>
          <p:cNvSpPr txBox="1"/>
          <p:nvPr/>
        </p:nvSpPr>
        <p:spPr>
          <a:xfrm>
            <a:off x="706407" y="505178"/>
            <a:ext cx="730841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Tools and Technologies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74" name="Google Shape;474;p16" descr="A computer chip with wir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1977" y="2838693"/>
            <a:ext cx="1110463" cy="110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6" descr="A blue and yellow snak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987" y="2452580"/>
            <a:ext cx="1110464" cy="110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6" descr="A computer server with a gea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2189" y="4592865"/>
            <a:ext cx="1110463" cy="110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6" descr="A black background with a black squar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6836" y="792061"/>
            <a:ext cx="1110463" cy="110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6" descr="A blue ribbon with a cros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47720" y="2319470"/>
            <a:ext cx="859985" cy="85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47720" y="3987084"/>
            <a:ext cx="1110463" cy="110472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6"/>
          <p:cNvSpPr/>
          <p:nvPr/>
        </p:nvSpPr>
        <p:spPr>
          <a:xfrm>
            <a:off x="455840" y="1958283"/>
            <a:ext cx="423522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EF8178"/>
                </a:solidFill>
                <a:latin typeface="Arial"/>
                <a:ea typeface="Arial"/>
                <a:cs typeface="Arial"/>
                <a:sym typeface="Arial"/>
              </a:rPr>
              <a:t>Game Engines:</a:t>
            </a:r>
            <a:r>
              <a:rPr lang="en-US" sz="1800" b="0" i="0" u="none" strike="noStrike" cap="none" dirty="0">
                <a:solidFill>
                  <a:srgbClr val="EF817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EFEDF7"/>
                </a:solidFill>
              </a:rPr>
              <a:t>Unity (C#), Photon Fusion / Mirror</a:t>
            </a: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endParaRPr sz="1800" b="0" i="0" u="none" strike="noStrike" cap="none" dirty="0">
              <a:solidFill>
                <a:srgbClr val="EFEDF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EF8178"/>
                </a:solidFill>
              </a:rPr>
              <a:t>Programming Languages: </a:t>
            </a:r>
            <a:r>
              <a:rPr lang="en-US" sz="1800" dirty="0">
                <a:solidFill>
                  <a:srgbClr val="EFEDF7"/>
                </a:solidFill>
              </a:rPr>
              <a:t>C#, Python (data processing &amp; simulation)</a:t>
            </a: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endParaRPr sz="1800" b="0" i="0" u="none" strike="noStrike" cap="none" dirty="0">
              <a:solidFill>
                <a:srgbClr val="EFEDF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EF8178"/>
                </a:solidFill>
              </a:rPr>
              <a:t>Simulation Tools</a:t>
            </a:r>
            <a:r>
              <a:rPr lang="en-US" sz="1800" b="1" i="0" u="none" strike="noStrike" cap="none" dirty="0">
                <a:solidFill>
                  <a:srgbClr val="EF817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00" dirty="0">
                <a:solidFill>
                  <a:srgbClr val="E9E5F4"/>
                </a:solidFill>
              </a:rPr>
              <a:t>Clumsy, </a:t>
            </a:r>
            <a:r>
              <a:rPr lang="en-US" sz="1800" dirty="0" err="1">
                <a:solidFill>
                  <a:srgbClr val="E9E5F4"/>
                </a:solidFill>
              </a:rPr>
              <a:t>NetEm</a:t>
            </a:r>
            <a:r>
              <a:rPr lang="en-US" sz="1800" dirty="0">
                <a:solidFill>
                  <a:srgbClr val="E9E5F4"/>
                </a:solidFill>
              </a:rPr>
              <a:t> (for latency &amp; packet loss)</a:t>
            </a: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endParaRPr sz="1800" dirty="0">
              <a:solidFill>
                <a:srgbClr val="EFEDF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EF8178"/>
                </a:solidFill>
                <a:latin typeface="Arial"/>
                <a:ea typeface="Arial"/>
                <a:cs typeface="Arial"/>
                <a:sym typeface="Arial"/>
              </a:rPr>
              <a:t>Databases: </a:t>
            </a:r>
            <a:r>
              <a:rPr lang="en-US" sz="1800" dirty="0">
                <a:solidFill>
                  <a:srgbClr val="E9E5F4"/>
                </a:solidFill>
              </a:rPr>
              <a:t>PostgreSQL / NoSQL (for session logs)</a:t>
            </a:r>
          </a:p>
          <a:p>
            <a:pPr marL="285750" lvl="0" indent="-285750">
              <a:buClr>
                <a:srgbClr val="EF8178"/>
              </a:buClr>
              <a:buSzPts val="1800"/>
              <a:buFont typeface="Arial"/>
              <a:buChar char="•"/>
            </a:pPr>
            <a:endParaRPr sz="1800" b="0" i="0" u="none" strike="noStrike" cap="none" dirty="0">
              <a:solidFill>
                <a:srgbClr val="EFEDF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8178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EF8178"/>
                </a:solidFill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-US" sz="1800" b="0" i="0" u="none" strike="noStrike" cap="none" dirty="0">
                <a:solidFill>
                  <a:srgbClr val="EF817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EFEDF7"/>
                </a:solidFill>
                <a:latin typeface="Arial"/>
                <a:ea typeface="Arial"/>
                <a:cs typeface="Arial"/>
                <a:sym typeface="Arial"/>
              </a:rPr>
              <a:t>GitHub, Trello</a:t>
            </a:r>
            <a:endParaRPr dirty="0"/>
          </a:p>
        </p:txBody>
      </p:sp>
      <p:sp>
        <p:nvSpPr>
          <p:cNvPr id="501" name="Google Shape;501;p16"/>
          <p:cNvSpPr/>
          <p:nvPr/>
        </p:nvSpPr>
        <p:spPr>
          <a:xfrm rot="7767909">
            <a:off x="-1414349" y="2888437"/>
            <a:ext cx="5320992" cy="5290378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6"/>
          <p:cNvSpPr txBox="1"/>
          <p:nvPr/>
        </p:nvSpPr>
        <p:spPr>
          <a:xfrm>
            <a:off x="11612946" y="6400032"/>
            <a:ext cx="4957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dirty="0"/>
          </a:p>
        </p:txBody>
      </p:sp>
      <p:grpSp>
        <p:nvGrpSpPr>
          <p:cNvPr id="2" name="Google Shape;520;p17">
            <a:extLst>
              <a:ext uri="{FF2B5EF4-FFF2-40B4-BE49-F238E27FC236}">
                <a16:creationId xmlns:a16="http://schemas.microsoft.com/office/drawing/2014/main" id="{73D62362-1278-A3CA-9C30-4FAAEBB354EA}"/>
              </a:ext>
            </a:extLst>
          </p:cNvPr>
          <p:cNvGrpSpPr/>
          <p:nvPr/>
        </p:nvGrpSpPr>
        <p:grpSpPr>
          <a:xfrm>
            <a:off x="8185391" y="-7135217"/>
            <a:ext cx="339900" cy="7051935"/>
            <a:chOff x="8185391" y="-96967"/>
            <a:chExt cx="339900" cy="7051935"/>
          </a:xfrm>
        </p:grpSpPr>
        <p:sp>
          <p:nvSpPr>
            <p:cNvPr id="3" name="Google Shape;521;p17">
              <a:extLst>
                <a:ext uri="{FF2B5EF4-FFF2-40B4-BE49-F238E27FC236}">
                  <a16:creationId xmlns:a16="http://schemas.microsoft.com/office/drawing/2014/main" id="{383952D4-DEB8-9741-862E-28A4E47872FE}"/>
                </a:ext>
              </a:extLst>
            </p:cNvPr>
            <p:cNvSpPr txBox="1"/>
            <p:nvPr/>
          </p:nvSpPr>
          <p:spPr>
            <a:xfrm rot="5400000">
              <a:off x="7768353" y="619803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4" name="Google Shape;522;p17">
              <a:extLst>
                <a:ext uri="{FF2B5EF4-FFF2-40B4-BE49-F238E27FC236}">
                  <a16:creationId xmlns:a16="http://schemas.microsoft.com/office/drawing/2014/main" id="{11986457-56AF-D2EC-11D2-A075A868160E}"/>
                </a:ext>
              </a:extLst>
            </p:cNvPr>
            <p:cNvSpPr txBox="1"/>
            <p:nvPr/>
          </p:nvSpPr>
          <p:spPr>
            <a:xfrm rot="5400000">
              <a:off x="7768353" y="502270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" name="Google Shape;523;p17">
              <a:extLst>
                <a:ext uri="{FF2B5EF4-FFF2-40B4-BE49-F238E27FC236}">
                  <a16:creationId xmlns:a16="http://schemas.microsoft.com/office/drawing/2014/main" id="{5D0C010C-9AD0-D81E-7403-C8D220B9417F}"/>
                </a:ext>
              </a:extLst>
            </p:cNvPr>
            <p:cNvSpPr txBox="1"/>
            <p:nvPr/>
          </p:nvSpPr>
          <p:spPr>
            <a:xfrm rot="5400000">
              <a:off x="7768353" y="3847385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" name="Google Shape;524;p17">
              <a:extLst>
                <a:ext uri="{FF2B5EF4-FFF2-40B4-BE49-F238E27FC236}">
                  <a16:creationId xmlns:a16="http://schemas.microsoft.com/office/drawing/2014/main" id="{F2B3E69F-BC6A-1002-891B-47468994EAA6}"/>
                </a:ext>
              </a:extLst>
            </p:cNvPr>
            <p:cNvSpPr txBox="1"/>
            <p:nvPr/>
          </p:nvSpPr>
          <p:spPr>
            <a:xfrm rot="5400000">
              <a:off x="7768353" y="2672062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7" name="Google Shape;525;p17">
              <a:extLst>
                <a:ext uri="{FF2B5EF4-FFF2-40B4-BE49-F238E27FC236}">
                  <a16:creationId xmlns:a16="http://schemas.microsoft.com/office/drawing/2014/main" id="{9D32FEFF-091A-C34D-D50F-392A0C162C19}"/>
                </a:ext>
              </a:extLst>
            </p:cNvPr>
            <p:cNvSpPr txBox="1"/>
            <p:nvPr/>
          </p:nvSpPr>
          <p:spPr>
            <a:xfrm rot="5400000">
              <a:off x="7767007" y="149674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" name="Google Shape;526;p17">
              <a:extLst>
                <a:ext uri="{FF2B5EF4-FFF2-40B4-BE49-F238E27FC236}">
                  <a16:creationId xmlns:a16="http://schemas.microsoft.com/office/drawing/2014/main" id="{6F5B2698-B7BE-3B7B-0F85-149A8F599020}"/>
                </a:ext>
              </a:extLst>
            </p:cNvPr>
            <p:cNvSpPr txBox="1"/>
            <p:nvPr/>
          </p:nvSpPr>
          <p:spPr>
            <a:xfrm rot="5400000">
              <a:off x="7767007" y="32141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9" name="Google Shape;513;p17">
            <a:extLst>
              <a:ext uri="{FF2B5EF4-FFF2-40B4-BE49-F238E27FC236}">
                <a16:creationId xmlns:a16="http://schemas.microsoft.com/office/drawing/2014/main" id="{462FA6DE-974E-4238-785B-D488F162521C}"/>
              </a:ext>
            </a:extLst>
          </p:cNvPr>
          <p:cNvGrpSpPr/>
          <p:nvPr/>
        </p:nvGrpSpPr>
        <p:grpSpPr>
          <a:xfrm>
            <a:off x="7846836" y="6945383"/>
            <a:ext cx="339900" cy="7051935"/>
            <a:chOff x="7846836" y="-96967"/>
            <a:chExt cx="339900" cy="7051935"/>
          </a:xfrm>
        </p:grpSpPr>
        <p:sp>
          <p:nvSpPr>
            <p:cNvPr id="10" name="Google Shape;514;p17">
              <a:extLst>
                <a:ext uri="{FF2B5EF4-FFF2-40B4-BE49-F238E27FC236}">
                  <a16:creationId xmlns:a16="http://schemas.microsoft.com/office/drawing/2014/main" id="{3917C24A-E04A-0C2D-8061-B3BFB2860DE5}"/>
                </a:ext>
              </a:extLst>
            </p:cNvPr>
            <p:cNvSpPr txBox="1"/>
            <p:nvPr/>
          </p:nvSpPr>
          <p:spPr>
            <a:xfrm rot="-5400000">
              <a:off x="7429798" y="619803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" name="Google Shape;515;p17">
              <a:extLst>
                <a:ext uri="{FF2B5EF4-FFF2-40B4-BE49-F238E27FC236}">
                  <a16:creationId xmlns:a16="http://schemas.microsoft.com/office/drawing/2014/main" id="{23E1ADC5-9251-5CD7-CA5D-41467E210BB1}"/>
                </a:ext>
              </a:extLst>
            </p:cNvPr>
            <p:cNvSpPr txBox="1"/>
            <p:nvPr/>
          </p:nvSpPr>
          <p:spPr>
            <a:xfrm rot="-5400000">
              <a:off x="7429798" y="502270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" name="Google Shape;516;p17">
              <a:extLst>
                <a:ext uri="{FF2B5EF4-FFF2-40B4-BE49-F238E27FC236}">
                  <a16:creationId xmlns:a16="http://schemas.microsoft.com/office/drawing/2014/main" id="{FE82E692-9891-D75C-8888-85A39916A588}"/>
                </a:ext>
              </a:extLst>
            </p:cNvPr>
            <p:cNvSpPr txBox="1"/>
            <p:nvPr/>
          </p:nvSpPr>
          <p:spPr>
            <a:xfrm rot="-5400000">
              <a:off x="7429798" y="3847385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" name="Google Shape;517;p17">
              <a:extLst>
                <a:ext uri="{FF2B5EF4-FFF2-40B4-BE49-F238E27FC236}">
                  <a16:creationId xmlns:a16="http://schemas.microsoft.com/office/drawing/2014/main" id="{F94CA350-CAC2-2AC1-5AB6-74BEA1D754F4}"/>
                </a:ext>
              </a:extLst>
            </p:cNvPr>
            <p:cNvSpPr txBox="1"/>
            <p:nvPr/>
          </p:nvSpPr>
          <p:spPr>
            <a:xfrm rot="-5400000">
              <a:off x="7429798" y="2672062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" name="Google Shape;518;p17">
              <a:extLst>
                <a:ext uri="{FF2B5EF4-FFF2-40B4-BE49-F238E27FC236}">
                  <a16:creationId xmlns:a16="http://schemas.microsoft.com/office/drawing/2014/main" id="{5D30261D-E3F5-A749-B212-20B494392DA2}"/>
                </a:ext>
              </a:extLst>
            </p:cNvPr>
            <p:cNvSpPr txBox="1"/>
            <p:nvPr/>
          </p:nvSpPr>
          <p:spPr>
            <a:xfrm rot="-5400000">
              <a:off x="7428452" y="149674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" name="Google Shape;519;p17">
              <a:extLst>
                <a:ext uri="{FF2B5EF4-FFF2-40B4-BE49-F238E27FC236}">
                  <a16:creationId xmlns:a16="http://schemas.microsoft.com/office/drawing/2014/main" id="{BD3F03C3-297C-96E6-92C1-23F7DA0AF271}"/>
                </a:ext>
              </a:extLst>
            </p:cNvPr>
            <p:cNvSpPr txBox="1"/>
            <p:nvPr/>
          </p:nvSpPr>
          <p:spPr>
            <a:xfrm rot="-5400000">
              <a:off x="7428452" y="32141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"/>
          <p:cNvSpPr/>
          <p:nvPr/>
        </p:nvSpPr>
        <p:spPr>
          <a:xfrm>
            <a:off x="7781924" y="0"/>
            <a:ext cx="4410075" cy="6858000"/>
          </a:xfrm>
          <a:prstGeom prst="rect">
            <a:avLst/>
          </a:prstGeom>
          <a:solidFill>
            <a:srgbClr val="5B44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E9281B-1E38-239D-3856-0B15F934F9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1240519">
            <a:off x="8120692" y="681336"/>
            <a:ext cx="5151797" cy="5151797"/>
          </a:xfrm>
          <a:prstGeom prst="rect">
            <a:avLst/>
          </a:prstGeom>
        </p:spPr>
      </p:pic>
      <p:sp>
        <p:nvSpPr>
          <p:cNvPr id="508" name="Google Shape;508;p17"/>
          <p:cNvSpPr/>
          <p:nvPr/>
        </p:nvSpPr>
        <p:spPr>
          <a:xfrm rot="-2368698">
            <a:off x="-1414349" y="2888437"/>
            <a:ext cx="5320992" cy="5290378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/>
          <p:nvPr/>
        </p:nvSpPr>
        <p:spPr>
          <a:xfrm rot="-712814">
            <a:off x="208299" y="154548"/>
            <a:ext cx="951446" cy="938394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608784" y="472942"/>
            <a:ext cx="487825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B3B84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Evaluation Metrics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513" name="Google Shape;513;p17"/>
          <p:cNvGrpSpPr/>
          <p:nvPr/>
        </p:nvGrpSpPr>
        <p:grpSpPr>
          <a:xfrm>
            <a:off x="7846836" y="-131692"/>
            <a:ext cx="339900" cy="7051935"/>
            <a:chOff x="7846836" y="-96967"/>
            <a:chExt cx="339900" cy="7051935"/>
          </a:xfrm>
        </p:grpSpPr>
        <p:sp>
          <p:nvSpPr>
            <p:cNvPr id="514" name="Google Shape;514;p17"/>
            <p:cNvSpPr txBox="1"/>
            <p:nvPr/>
          </p:nvSpPr>
          <p:spPr>
            <a:xfrm rot="-5400000">
              <a:off x="7429798" y="619803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15" name="Google Shape;515;p17"/>
            <p:cNvSpPr txBox="1"/>
            <p:nvPr/>
          </p:nvSpPr>
          <p:spPr>
            <a:xfrm rot="-5400000">
              <a:off x="7429798" y="502270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16" name="Google Shape;516;p17"/>
            <p:cNvSpPr txBox="1"/>
            <p:nvPr/>
          </p:nvSpPr>
          <p:spPr>
            <a:xfrm rot="-5400000">
              <a:off x="7429798" y="3847385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17" name="Google Shape;517;p17"/>
            <p:cNvSpPr txBox="1"/>
            <p:nvPr/>
          </p:nvSpPr>
          <p:spPr>
            <a:xfrm rot="-5400000">
              <a:off x="7429798" y="2672062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18" name="Google Shape;518;p17"/>
            <p:cNvSpPr txBox="1"/>
            <p:nvPr/>
          </p:nvSpPr>
          <p:spPr>
            <a:xfrm rot="-5400000">
              <a:off x="7428452" y="149674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19" name="Google Shape;519;p17"/>
            <p:cNvSpPr txBox="1"/>
            <p:nvPr/>
          </p:nvSpPr>
          <p:spPr>
            <a:xfrm rot="-5400000">
              <a:off x="7428452" y="32141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520" name="Google Shape;520;p17"/>
          <p:cNvGrpSpPr/>
          <p:nvPr/>
        </p:nvGrpSpPr>
        <p:grpSpPr>
          <a:xfrm>
            <a:off x="8185391" y="-39092"/>
            <a:ext cx="339900" cy="7051935"/>
            <a:chOff x="8185391" y="-96967"/>
            <a:chExt cx="339900" cy="7051935"/>
          </a:xfrm>
        </p:grpSpPr>
        <p:sp>
          <p:nvSpPr>
            <p:cNvPr id="521" name="Google Shape;521;p17"/>
            <p:cNvSpPr txBox="1"/>
            <p:nvPr/>
          </p:nvSpPr>
          <p:spPr>
            <a:xfrm rot="5400000">
              <a:off x="7768353" y="619803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22" name="Google Shape;522;p17"/>
            <p:cNvSpPr txBox="1"/>
            <p:nvPr/>
          </p:nvSpPr>
          <p:spPr>
            <a:xfrm rot="5400000">
              <a:off x="7768353" y="502270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23" name="Google Shape;523;p17"/>
            <p:cNvSpPr txBox="1"/>
            <p:nvPr/>
          </p:nvSpPr>
          <p:spPr>
            <a:xfrm rot="5400000">
              <a:off x="7768353" y="3847385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24" name="Google Shape;524;p17"/>
            <p:cNvSpPr txBox="1"/>
            <p:nvPr/>
          </p:nvSpPr>
          <p:spPr>
            <a:xfrm rot="5400000">
              <a:off x="7768353" y="2672062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25" name="Google Shape;525;p17"/>
            <p:cNvSpPr txBox="1"/>
            <p:nvPr/>
          </p:nvSpPr>
          <p:spPr>
            <a:xfrm rot="5400000">
              <a:off x="7767007" y="1496740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26" name="Google Shape;526;p17"/>
            <p:cNvSpPr txBox="1"/>
            <p:nvPr/>
          </p:nvSpPr>
          <p:spPr>
            <a:xfrm rot="5400000">
              <a:off x="7767007" y="321417"/>
              <a:ext cx="117532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 err="1">
                  <a:solidFill>
                    <a:srgbClr val="EF8178"/>
                  </a:solidFill>
                  <a:latin typeface="Aharoni" panose="02010803020104030203" pitchFamily="2" charset="-79"/>
                  <a:ea typeface="Quattrocento Sans"/>
                  <a:cs typeface="Aharoni" panose="02010803020104030203" pitchFamily="2" charset="-79"/>
                  <a:sym typeface="Quattrocento Sans"/>
                </a:rPr>
                <a:t>NetSwitch</a:t>
              </a:r>
              <a:endParaRPr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527" name="Google Shape;527;p17"/>
          <p:cNvSpPr txBox="1"/>
          <p:nvPr/>
        </p:nvSpPr>
        <p:spPr>
          <a:xfrm>
            <a:off x="366548" y="1442800"/>
            <a:ext cx="6648432" cy="422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3B84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Latency Reduction</a:t>
            </a:r>
            <a:endParaRPr dirty="0"/>
          </a:p>
          <a:p>
            <a:pPr lvl="0">
              <a:spcAft>
                <a:spcPts val="1000"/>
              </a:spcAft>
            </a:pPr>
            <a:r>
              <a:rPr lang="en-US" sz="1700" dirty="0">
                <a:solidFill>
                  <a:schemeClr val="dk1"/>
                </a:solidFill>
              </a:rPr>
              <a:t>Average RTT improvement during architecture switching</a:t>
            </a:r>
            <a:endParaRPr sz="1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3B84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4B3B84"/>
                </a:solidFill>
                <a:latin typeface="Arial"/>
                <a:ea typeface="Arial"/>
                <a:cs typeface="Arial"/>
                <a:sym typeface="Arial"/>
              </a:rPr>
              <a:t>Input Delay</a:t>
            </a:r>
          </a:p>
          <a:p>
            <a:pPr lvl="0">
              <a:spcAft>
                <a:spcPts val="1000"/>
              </a:spcAft>
              <a:buClr>
                <a:srgbClr val="4B3B84"/>
              </a:buClr>
              <a:buSzPts val="1800"/>
            </a:pPr>
            <a:r>
              <a:rPr lang="en-US" sz="1700" dirty="0"/>
              <a:t>Time between player action and server response</a:t>
            </a:r>
          </a:p>
          <a:p>
            <a:pPr lvl="0">
              <a:buClr>
                <a:srgbClr val="4B3B84"/>
              </a:buClr>
              <a:buSzPts val="1800"/>
            </a:pPr>
            <a:r>
              <a:rPr lang="en-US" sz="1800" b="1" dirty="0">
                <a:solidFill>
                  <a:srgbClr val="4B3B84"/>
                </a:solidFill>
              </a:rPr>
              <a:t>Switch Time</a:t>
            </a:r>
          </a:p>
          <a:p>
            <a:pPr lvl="0">
              <a:spcAft>
                <a:spcPts val="1000"/>
              </a:spcAft>
              <a:buClr>
                <a:srgbClr val="4B3B84"/>
              </a:buClr>
              <a:buSzPts val="1800"/>
            </a:pPr>
            <a:r>
              <a:rPr lang="en-US" sz="1700" dirty="0"/>
              <a:t>Duration for architecture transition</a:t>
            </a:r>
          </a:p>
          <a:p>
            <a:pPr lvl="0">
              <a:buClr>
                <a:srgbClr val="4B3B84"/>
              </a:buClr>
              <a:buSzPts val="1800"/>
            </a:pPr>
            <a:r>
              <a:rPr lang="en-US" sz="1800" b="1" dirty="0">
                <a:solidFill>
                  <a:srgbClr val="4B3B84"/>
                </a:solidFill>
              </a:rPr>
              <a:t>Desynchronization Events</a:t>
            </a:r>
          </a:p>
          <a:p>
            <a:pPr lvl="0">
              <a:spcAft>
                <a:spcPts val="1000"/>
              </a:spcAft>
              <a:buClr>
                <a:srgbClr val="4B3B84"/>
              </a:buClr>
              <a:buSzPts val="1800"/>
            </a:pPr>
            <a:r>
              <a:rPr lang="en-US" sz="1700" dirty="0"/>
              <a:t>Number of state inconsistencies</a:t>
            </a:r>
          </a:p>
          <a:p>
            <a:pPr lvl="0">
              <a:buClr>
                <a:srgbClr val="4B3B84"/>
              </a:buClr>
              <a:buSzPts val="1800"/>
            </a:pPr>
            <a:r>
              <a:rPr lang="en-US" sz="1800" b="1" dirty="0">
                <a:solidFill>
                  <a:srgbClr val="4B3B84"/>
                </a:solidFill>
              </a:rPr>
              <a:t>Player Experience Metrics</a:t>
            </a:r>
          </a:p>
          <a:p>
            <a:pPr lvl="0">
              <a:spcAft>
                <a:spcPts val="1000"/>
              </a:spcAft>
              <a:buClr>
                <a:srgbClr val="4B3B84"/>
              </a:buClr>
              <a:buSzPts val="1800"/>
            </a:pPr>
            <a:r>
              <a:rPr lang="en-US" sz="1700" dirty="0"/>
              <a:t>Smoothness of gameplay, measured via simulation</a:t>
            </a:r>
          </a:p>
          <a:p>
            <a:pPr lvl="0">
              <a:buClr>
                <a:srgbClr val="4B3B84"/>
              </a:buClr>
              <a:buSzPts val="1800"/>
            </a:pPr>
            <a:r>
              <a:rPr lang="en-US" sz="1800" b="1" dirty="0">
                <a:solidFill>
                  <a:srgbClr val="4B3B84"/>
                </a:solidFill>
              </a:rPr>
              <a:t>Load Handling</a:t>
            </a:r>
          </a:p>
          <a:p>
            <a:pPr lvl="0">
              <a:buClr>
                <a:srgbClr val="4B3B84"/>
              </a:buClr>
              <a:buSzPts val="1800"/>
            </a:pPr>
            <a:r>
              <a:rPr lang="en-US" sz="1700" dirty="0"/>
              <a:t>Server performance under variable player counts and network stress</a:t>
            </a:r>
          </a:p>
        </p:txBody>
      </p:sp>
      <p:sp>
        <p:nvSpPr>
          <p:cNvPr id="528" name="Google Shape;528;p17"/>
          <p:cNvSpPr/>
          <p:nvPr/>
        </p:nvSpPr>
        <p:spPr>
          <a:xfrm rot="6335437">
            <a:off x="4097183" y="3006119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7"/>
          <p:cNvSpPr/>
          <p:nvPr/>
        </p:nvSpPr>
        <p:spPr>
          <a:xfrm rot="-4155029">
            <a:off x="2247098" y="-2137724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7"/>
          <p:cNvSpPr txBox="1"/>
          <p:nvPr/>
        </p:nvSpPr>
        <p:spPr>
          <a:xfrm>
            <a:off x="11589006" y="6400032"/>
            <a:ext cx="5197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377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"/>
          <p:cNvSpPr/>
          <p:nvPr/>
        </p:nvSpPr>
        <p:spPr>
          <a:xfrm rot="-1455717">
            <a:off x="4097183" y="3006119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 rot="9261912">
            <a:off x="2247098" y="-2137724"/>
            <a:ext cx="6367474" cy="6330838"/>
          </a:xfrm>
          <a:prstGeom prst="arc">
            <a:avLst>
              <a:gd name="adj1" fmla="val 16200000"/>
              <a:gd name="adj2" fmla="val 2935196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138755" y="129497"/>
            <a:ext cx="1223462" cy="1206678"/>
          </a:xfrm>
          <a:prstGeom prst="ellipse">
            <a:avLst/>
          </a:prstGeom>
          <a:solidFill>
            <a:srgbClr val="E9E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"/>
          <p:cNvSpPr txBox="1"/>
          <p:nvPr/>
        </p:nvSpPr>
        <p:spPr>
          <a:xfrm>
            <a:off x="706407" y="505178"/>
            <a:ext cx="550389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EF8178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References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40" name="Google Shape;540;p18"/>
          <p:cNvSpPr txBox="1"/>
          <p:nvPr/>
        </p:nvSpPr>
        <p:spPr>
          <a:xfrm>
            <a:off x="325736" y="1418090"/>
            <a:ext cx="5503894" cy="5346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5F4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Research Papers:</a:t>
            </a:r>
            <a:endParaRPr sz="1600" dirty="0"/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r>
              <a:rPr lang="en-US" sz="1100" dirty="0">
                <a:solidFill>
                  <a:srgbClr val="E9E5F4"/>
                </a:solidFill>
              </a:rPr>
              <a:t>Jason </a:t>
            </a:r>
            <a:r>
              <a:rPr lang="en-US" sz="1100" dirty="0" err="1">
                <a:solidFill>
                  <a:srgbClr val="E9E5F4"/>
                </a:solidFill>
              </a:rPr>
              <a:t>Tanuwijaya</a:t>
            </a:r>
            <a:r>
              <a:rPr lang="en-US" sz="1100" dirty="0">
                <a:solidFill>
                  <a:srgbClr val="E9E5F4"/>
                </a:solidFill>
              </a:rPr>
              <a:t> </a:t>
            </a:r>
            <a:r>
              <a:rPr lang="en-US" sz="1100" dirty="0" err="1">
                <a:solidFill>
                  <a:srgbClr val="E9E5F4"/>
                </a:solidFill>
              </a:rPr>
              <a:t>Tarionoa</a:t>
            </a:r>
            <a:r>
              <a:rPr lang="en-US" sz="1100" dirty="0">
                <a:solidFill>
                  <a:srgbClr val="E9E5F4"/>
                </a:solidFill>
              </a:rPr>
              <a:t>,, Michael Jordan </a:t>
            </a:r>
            <a:r>
              <a:rPr lang="en-US" sz="1100" dirty="0" err="1">
                <a:solidFill>
                  <a:srgbClr val="E9E5F4"/>
                </a:solidFill>
              </a:rPr>
              <a:t>Liua</a:t>
            </a:r>
            <a:r>
              <a:rPr lang="en-US" sz="1100" dirty="0">
                <a:solidFill>
                  <a:srgbClr val="E9E5F4"/>
                </a:solidFill>
              </a:rPr>
              <a:t> , Irma Kartika </a:t>
            </a:r>
            <a:r>
              <a:rPr lang="en-US" sz="1100" dirty="0" err="1">
                <a:solidFill>
                  <a:srgbClr val="E9E5F4"/>
                </a:solidFill>
              </a:rPr>
              <a:t>Wairooya</a:t>
            </a:r>
            <a:r>
              <a:rPr lang="en-US" sz="1100" dirty="0">
                <a:solidFill>
                  <a:srgbClr val="E9E5F4"/>
                </a:solidFill>
              </a:rPr>
              <a:t> , </a:t>
            </a:r>
            <a:r>
              <a:rPr lang="en-US" sz="1100" dirty="0" err="1">
                <a:solidFill>
                  <a:srgbClr val="E9E5F4"/>
                </a:solidFill>
              </a:rPr>
              <a:t>Brilly</a:t>
            </a:r>
            <a:r>
              <a:rPr lang="en-US" sz="1100" dirty="0">
                <a:solidFill>
                  <a:srgbClr val="E9E5F4"/>
                </a:solidFill>
              </a:rPr>
              <a:t> Andro Makalewa.2025.Enhancing Cross-Regional Multiplayer Gaming: Implementing Client-Side Prediction to Reduce Network Latency – </a:t>
            </a:r>
            <a:r>
              <a:rPr lang="en-US" sz="1100" dirty="0">
                <a:solidFill>
                  <a:srgbClr val="E9E5F4"/>
                </a:solidFill>
                <a:hlinkClick r:id="rId3"/>
              </a:rPr>
              <a:t>https://www.sciencedirect.com/science/article/pii/S1877050925026456</a:t>
            </a:r>
            <a:endParaRPr lang="en-US" sz="1100" dirty="0">
              <a:solidFill>
                <a:srgbClr val="E9E5F4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r>
              <a:rPr lang="en-US" sz="1100" dirty="0">
                <a:solidFill>
                  <a:srgbClr val="EFEDF7"/>
                </a:solidFill>
              </a:rPr>
              <a:t>Francesco Bertolotti, Walter Cazzola, Luca </a:t>
            </a:r>
            <a:r>
              <a:rPr lang="en-US" sz="1100" dirty="0" err="1">
                <a:solidFill>
                  <a:srgbClr val="EFEDF7"/>
                </a:solidFill>
              </a:rPr>
              <a:t>Favalli</a:t>
            </a:r>
            <a:r>
              <a:rPr lang="en-US" sz="1100" dirty="0">
                <a:solidFill>
                  <a:srgbClr val="EFEDF7"/>
                </a:solidFill>
              </a:rPr>
              <a:t>, Dario Ostuni, Leonardo Secco.2025.Netskip—A Novel Architecture for Consistent Multiplayer Videogame State – </a:t>
            </a:r>
            <a:r>
              <a:rPr lang="en-US" sz="1100" dirty="0">
                <a:solidFill>
                  <a:srgbClr val="EFEDF7"/>
                </a:solidFill>
                <a:hlinkClick r:id="rId4"/>
              </a:rPr>
              <a:t>https://www.sciencedirect.com/science/article/pii/S2590118425000565?ref=pdf_download&amp;fr=RR-2&amp;rr=9c529f3ccd3821e3</a:t>
            </a:r>
            <a:endParaRPr lang="en-US" sz="1100" dirty="0">
              <a:solidFill>
                <a:srgbClr val="EFEDF7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r>
              <a:rPr lang="en-US" sz="1100" dirty="0">
                <a:solidFill>
                  <a:srgbClr val="EFEDF7"/>
                </a:solidFill>
              </a:rPr>
              <a:t>Arda Deniz Çelik , Gökhan </a:t>
            </a:r>
            <a:r>
              <a:rPr lang="en-US" sz="1100" dirty="0" err="1">
                <a:solidFill>
                  <a:srgbClr val="EFEDF7"/>
                </a:solidFill>
              </a:rPr>
              <a:t>Seçinti</a:t>
            </a:r>
            <a:r>
              <a:rPr lang="en-US" sz="1100" dirty="0">
                <a:solidFill>
                  <a:srgbClr val="EFEDF7"/>
                </a:solidFill>
              </a:rPr>
              <a:t>. 2024. Network Optimizing Software Solution for Multiplayer Gaming (2024) – </a:t>
            </a:r>
            <a:r>
              <a:rPr lang="en-US" sz="1100" dirty="0">
                <a:solidFill>
                  <a:srgbClr val="EFEDF7"/>
                </a:solidFill>
                <a:hlinkClick r:id="rId5"/>
              </a:rPr>
              <a:t>https://dergipark.org.tr/en/download/article-file/4173848</a:t>
            </a:r>
            <a:endParaRPr lang="en-US" sz="1100" dirty="0">
              <a:solidFill>
                <a:srgbClr val="EFEDF7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r>
              <a:rPr lang="en-US" sz="1100" dirty="0">
                <a:solidFill>
                  <a:srgbClr val="EFEDF7"/>
                </a:solidFill>
              </a:rPr>
              <a:t>Abel Dantas, Carlos Baquero. CRDT-Based Game State Synchronization in P2P VR (2025) – </a:t>
            </a:r>
            <a:r>
              <a:rPr lang="en-US" sz="1100" dirty="0">
                <a:solidFill>
                  <a:srgbClr val="EFEDF7"/>
                </a:solidFill>
                <a:hlinkClick r:id="rId6"/>
              </a:rPr>
              <a:t>https://arxiv.org/pdf/2503.17826</a:t>
            </a:r>
            <a:endParaRPr lang="en-US" sz="1100" dirty="0">
              <a:solidFill>
                <a:srgbClr val="EFEDF7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r>
              <a:rPr lang="en-US" sz="1100" dirty="0">
                <a:solidFill>
                  <a:srgbClr val="EFEDF7"/>
                </a:solidFill>
              </a:rPr>
              <a:t>Shinsuk Kang, </a:t>
            </a:r>
            <a:r>
              <a:rPr lang="en-US" sz="1100" dirty="0" err="1">
                <a:solidFill>
                  <a:srgbClr val="EFEDF7"/>
                </a:solidFill>
              </a:rPr>
              <a:t>Youngjae</a:t>
            </a:r>
            <a:r>
              <a:rPr lang="en-US" sz="1100" dirty="0">
                <a:solidFill>
                  <a:srgbClr val="EFEDF7"/>
                </a:solidFill>
              </a:rPr>
              <a:t> Kim. AFLL: Real-Time Load Stabilization for MMO Game Servers (2026) – </a:t>
            </a:r>
            <a:r>
              <a:rPr lang="en-US" sz="1100" dirty="0">
                <a:solidFill>
                  <a:srgbClr val="EFEDF7"/>
                </a:solidFill>
                <a:hlinkClick r:id="rId7"/>
              </a:rPr>
              <a:t>https://arxiv.org/pdf/2601.10998</a:t>
            </a:r>
            <a:endParaRPr lang="en-US" sz="1100" dirty="0">
              <a:solidFill>
                <a:srgbClr val="EFEDF7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r>
              <a:rPr lang="en-US" sz="1100" dirty="0">
                <a:solidFill>
                  <a:srgbClr val="EFEDF7"/>
                </a:solidFill>
              </a:rPr>
              <a:t>Doriana Monaco, Alessio Sacco, Daniele Spina, Francesco Strada, Andrea Bottino, Tania </a:t>
            </a:r>
            <a:r>
              <a:rPr lang="en-US" sz="1100" dirty="0" err="1">
                <a:solidFill>
                  <a:srgbClr val="EFEDF7"/>
                </a:solidFill>
              </a:rPr>
              <a:t>Cerquitelli</a:t>
            </a:r>
            <a:r>
              <a:rPr lang="en-US" sz="1100" dirty="0">
                <a:solidFill>
                  <a:srgbClr val="EFEDF7"/>
                </a:solidFill>
              </a:rPr>
              <a:t>, Guido Marchetto. 2025. Real-time latency prediction for cloud gaming applications – </a:t>
            </a:r>
            <a:r>
              <a:rPr lang="en-US" sz="1100" dirty="0">
                <a:solidFill>
                  <a:srgbClr val="EFEDF7"/>
                </a:solidFill>
                <a:hlinkClick r:id="rId8"/>
              </a:rPr>
              <a:t>https://www.sciencedirect.com/science/article/pii/S1389128625002038#d1e4114</a:t>
            </a:r>
            <a:endParaRPr lang="en-US" sz="1100" dirty="0">
              <a:solidFill>
                <a:srgbClr val="EFEDF7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E9E5F4"/>
              </a:buClr>
              <a:buSzPts val="1200"/>
            </a:pPr>
            <a:endParaRPr sz="1100" dirty="0">
              <a:solidFill>
                <a:srgbClr val="EFEDF7"/>
              </a:solidFill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6362372" y="1418090"/>
            <a:ext cx="5503894" cy="359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en-US" sz="1600" b="1" dirty="0">
                <a:solidFill>
                  <a:srgbClr val="E9E5F4"/>
                </a:solidFill>
              </a:rPr>
              <a:t>Tools &amp; Technologies Documentation:</a:t>
            </a: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endParaRPr lang="en-US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en-US" dirty="0">
                <a:solidFill>
                  <a:srgbClr val="E9E5F4"/>
                </a:solidFill>
              </a:rPr>
              <a:t>Unity: </a:t>
            </a:r>
            <a:r>
              <a:rPr lang="en-US" dirty="0">
                <a:solidFill>
                  <a:srgbClr val="E9E5F4"/>
                </a:solidFill>
                <a:hlinkClick r:id="rId9"/>
              </a:rPr>
              <a:t>https://unity.com</a:t>
            </a:r>
            <a:endParaRPr lang="en-US" dirty="0">
              <a:solidFill>
                <a:srgbClr val="E9E5F4"/>
              </a:solidFill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endParaRPr lang="en-US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fr-FR" dirty="0">
                <a:solidFill>
                  <a:srgbClr val="E9E5F4"/>
                </a:solidFill>
              </a:rPr>
              <a:t>Photon Fusion: </a:t>
            </a:r>
            <a:r>
              <a:rPr lang="fr-FR" dirty="0">
                <a:solidFill>
                  <a:srgbClr val="E9E5F4"/>
                </a:solidFill>
                <a:hlinkClick r:id="rId10"/>
              </a:rPr>
              <a:t>https://www.photonengine.com/fusion</a:t>
            </a:r>
            <a:endParaRPr lang="fr-FR" dirty="0">
              <a:solidFill>
                <a:srgbClr val="E9E5F4"/>
              </a:solidFill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endParaRPr lang="fr-FR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en-US" dirty="0">
                <a:solidFill>
                  <a:srgbClr val="E9E5F4"/>
                </a:solidFill>
              </a:rPr>
              <a:t>Python: </a:t>
            </a:r>
            <a:r>
              <a:rPr lang="en-US" dirty="0">
                <a:solidFill>
                  <a:srgbClr val="E9E5F4"/>
                </a:solidFill>
                <a:hlinkClick r:id="rId11"/>
              </a:rPr>
              <a:t>https://docs.python.org/3/</a:t>
            </a:r>
            <a:endParaRPr lang="en-US" dirty="0">
              <a:solidFill>
                <a:srgbClr val="E9E5F4"/>
              </a:solidFill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endParaRPr lang="en-US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fr-FR" dirty="0">
                <a:solidFill>
                  <a:srgbClr val="E9E5F4"/>
                </a:solidFill>
              </a:rPr>
              <a:t>PostgreSQL: </a:t>
            </a:r>
            <a:r>
              <a:rPr lang="fr-FR" dirty="0">
                <a:solidFill>
                  <a:srgbClr val="E9E5F4"/>
                </a:solidFill>
                <a:hlinkClick r:id="rId12"/>
              </a:rPr>
              <a:t>https://www.postgresql.org/docs/</a:t>
            </a:r>
            <a:endParaRPr lang="fr-FR" dirty="0">
              <a:solidFill>
                <a:srgbClr val="E9E5F4"/>
              </a:solidFill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endParaRPr lang="fr-FR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en-US" dirty="0">
                <a:solidFill>
                  <a:srgbClr val="E9E5F4"/>
                </a:solidFill>
              </a:rPr>
              <a:t>Clumsy: </a:t>
            </a:r>
            <a:r>
              <a:rPr lang="en-US" dirty="0">
                <a:solidFill>
                  <a:srgbClr val="E9E5F4"/>
                </a:solidFill>
                <a:hlinkClick r:id="rId13"/>
              </a:rPr>
              <a:t>https://jagt.github.io/clumsy/</a:t>
            </a:r>
            <a:endParaRPr lang="en-US" dirty="0">
              <a:solidFill>
                <a:srgbClr val="E9E5F4"/>
              </a:solidFill>
            </a:endParaRPr>
          </a:p>
          <a:p>
            <a:pPr lvl="0">
              <a:lnSpc>
                <a:spcPct val="115000"/>
              </a:lnSpc>
              <a:buClr>
                <a:srgbClr val="E9E5F4"/>
              </a:buClr>
              <a:buSzPts val="1400"/>
            </a:pPr>
            <a:endParaRPr lang="en-US" dirty="0">
              <a:solidFill>
                <a:srgbClr val="E9E5F4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rgbClr val="E9E5F4"/>
              </a:buClr>
              <a:buSzPts val="1400"/>
            </a:pPr>
            <a:r>
              <a:rPr lang="pt-BR" dirty="0">
                <a:solidFill>
                  <a:srgbClr val="E9E5F4"/>
                </a:solidFill>
              </a:rPr>
              <a:t>NetEm: </a:t>
            </a:r>
            <a:r>
              <a:rPr lang="pt-BR" dirty="0">
                <a:solidFill>
                  <a:srgbClr val="E9E5F4"/>
                </a:solidFill>
                <a:hlinkClick r:id="rId14"/>
              </a:rPr>
              <a:t>https://wiki.linuxfoundation.org/networking/netem</a:t>
            </a:r>
            <a:endParaRPr lang="pt-BR" dirty="0">
              <a:solidFill>
                <a:srgbClr val="E9E5F4"/>
              </a:solidFill>
            </a:endParaRPr>
          </a:p>
          <a:p>
            <a:pPr>
              <a:lnSpc>
                <a:spcPct val="115000"/>
              </a:lnSpc>
              <a:buClr>
                <a:srgbClr val="E9E5F4"/>
              </a:buClr>
              <a:buSzPts val="1400"/>
            </a:pPr>
            <a:endParaRPr dirty="0">
              <a:solidFill>
                <a:srgbClr val="EF81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/>
          <p:nvPr/>
        </p:nvSpPr>
        <p:spPr>
          <a:xfrm rot="10505760">
            <a:off x="-2935707" y="183357"/>
            <a:ext cx="5320992" cy="5290378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 txBox="1"/>
          <p:nvPr/>
        </p:nvSpPr>
        <p:spPr>
          <a:xfrm>
            <a:off x="11636227" y="6400032"/>
            <a:ext cx="4725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E9E5F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304286-B283-ED1B-D331-B1E74EF4E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, , , 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30AEE-8A59-F53D-D4EA-3937D8702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, , , 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BC132B-0280-4123-816E-C556CB21A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, , ,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15"/>
              </a:rPr>
              <a:t>A</a:t>
            </a:r>
            <a:r>
              <a:rPr kumimoji="0" lang="en-US" altLang="en-US" sz="1200" b="0" i="0" u="none" strike="noStrike" cap="none" normalizeH="0" baseline="0" bmk="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15"/>
              </a:rPr>
              <a:t>ndrea Bottino</a:t>
            </a:r>
            <a:r>
              <a:rPr kumimoji="0" lang="en-US" altLang="en-US" sz="1200" b="0" i="0" u="none" strike="noStrike" cap="none" normalizeH="0" baseline="0" bmk="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</a:t>
            </a:r>
            <a:r>
              <a:rPr kumimoji="0" lang="en-US" altLang="en-US" sz="1200" b="0" i="0" u="none" strike="noStrike" cap="none" normalizeH="0" baseline="0" bmk="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16"/>
              </a:rPr>
              <a:t>Tania Cerquitelli</a:t>
            </a:r>
            <a:r>
              <a:rPr kumimoji="0" lang="en-US" altLang="en-US" sz="1200" b="0" i="0" u="none" strike="noStrike" cap="none" normalizeH="0" baseline="0" bmk="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</a:t>
            </a:r>
            <a:r>
              <a:rPr kumimoji="0" lang="en-US" altLang="en-US" sz="1200" b="0" i="0" u="none" strike="noStrike" cap="none" normalizeH="0" baseline="0" bmk="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17"/>
              </a:rPr>
              <a:t>Guido Marchetto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4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4B3B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 rot="4125726">
            <a:off x="-510007" y="183357"/>
            <a:ext cx="5320992" cy="5290378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EFEDF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9"/>
          <p:cNvSpPr/>
          <p:nvPr/>
        </p:nvSpPr>
        <p:spPr>
          <a:xfrm rot="-712814">
            <a:off x="1102235" y="2095318"/>
            <a:ext cx="2256958" cy="2225996"/>
          </a:xfrm>
          <a:prstGeom prst="ellipse">
            <a:avLst/>
          </a:prstGeom>
          <a:solidFill>
            <a:srgbClr val="EF81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0" y="723522"/>
            <a:ext cx="4099763" cy="935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9"/>
          <p:cNvSpPr txBox="1"/>
          <p:nvPr/>
        </p:nvSpPr>
        <p:spPr>
          <a:xfrm>
            <a:off x="2058150" y="3208316"/>
            <a:ext cx="305243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B3B84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Thank You!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53" name="Google Shape;553;p19"/>
          <p:cNvSpPr/>
          <p:nvPr/>
        </p:nvSpPr>
        <p:spPr>
          <a:xfrm rot="-7104857">
            <a:off x="9123911" y="3440907"/>
            <a:ext cx="5320992" cy="5290378"/>
          </a:xfrm>
          <a:prstGeom prst="arc">
            <a:avLst>
              <a:gd name="adj1" fmla="val 16200000"/>
              <a:gd name="adj2" fmla="val 5952452"/>
            </a:avLst>
          </a:prstGeom>
          <a:noFill/>
          <a:ln w="254000" cap="flat" cmpd="sng">
            <a:solidFill>
              <a:srgbClr val="5B44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7317689" y="3208316"/>
            <a:ext cx="40591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EFEDF7"/>
                </a:solidFill>
                <a:latin typeface="Aharoni" panose="02010803020104030203" pitchFamily="2" charset="-79"/>
                <a:ea typeface="Quattrocento Sans"/>
                <a:cs typeface="Aharoni" panose="02010803020104030203" pitchFamily="2" charset="-79"/>
                <a:sym typeface="Quattrocento Sans"/>
              </a:rPr>
              <a:t>Any Questions?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9E5F4"/>
        </a:solidFill>
        <a:ln>
          <a:noFill/>
        </a:ln>
      </a:spPr>
      <a:bodyPr spcFirstLastPara="1" wrap="square" lIns="91425" tIns="45700" rIns="91425" bIns="45700" anchor="ctr" anchorCtr="0">
        <a:noAutofit/>
      </a:bodyPr>
      <a:lstStyle>
        <a:defPPr marL="0" marR="0" indent="0" algn="l" rtl="0">
          <a:spcBef>
            <a:spcPts val="0"/>
          </a:spcBef>
          <a:spcAft>
            <a:spcPts val="0"/>
          </a:spcAft>
          <a:buNone/>
          <a:defRPr sz="1600">
            <a:solidFill>
              <a:srgbClr val="4B3B84"/>
            </a:solidFill>
            <a:latin typeface="Arial"/>
            <a:ea typeface="Arial"/>
            <a:cs typeface="Arial"/>
            <a:sym typeface="Arial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3973</TotalTime>
  <Words>1376</Words>
  <Application>Microsoft Office PowerPoint</Application>
  <PresentationFormat>Widescreen</PresentationFormat>
  <Paragraphs>337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Play</vt:lpstr>
      <vt:lpstr>Arial</vt:lpstr>
      <vt:lpstr>Aptos</vt:lpstr>
      <vt:lpstr>Quattrocento Sans</vt:lpstr>
      <vt:lpstr>Wingdings</vt:lpstr>
      <vt:lpstr>Aharoni</vt:lpstr>
      <vt:lpstr>ElsevierSans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M. Bilal Mehmood</dc:creator>
  <cp:lastModifiedBy>Muhammad Saim Zia</cp:lastModifiedBy>
  <cp:revision>32</cp:revision>
  <dcterms:created xsi:type="dcterms:W3CDTF">2025-08-25T18:24:54Z</dcterms:created>
  <dcterms:modified xsi:type="dcterms:W3CDTF">2026-01-28T20:16:21Z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0x01010023298F9E5F8F7F4A8C070285F76CFFEA</vt:lpwstr>
  </property>
</Properties>
</file>